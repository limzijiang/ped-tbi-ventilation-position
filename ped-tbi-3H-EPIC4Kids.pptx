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全課只講三顆炸彈與一組數字。小兒的部分是延伸，不是另一套規則。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課本 p.732 原文。三個 H 開頭的字，三個數字，這是整章的骨架。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強調「一次」。不是持續低血氧才算，是紀錄到一次就與死亡率倍增相關。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小兒血壓那條是本課唯一補充課本的地方，要講清楚是延伸不是課本原文。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這兩排數字最容易記混。用「往上跳一階」串起來，比死背六個數字容易。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可以要求學員在情境演練中真的每 5 分鐘喊一次這五項。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庫欣氏徵象是晚期。不要等到三個都齊了才動作。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項是唯一會用到「吹快」的時機。強調它是暫時的、有終點的。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這是教學員讀信賴區間最好的例子：點估計漂亮不等於結論強。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避免學員把「全體沒改善」誤讀成「不用做」。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這一頁不是要否定 EtCO₂，是要學員知道它往哪個方向錯。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讓學員複誦一次口訣，再做這兩題。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若有人問抬高床頭，用最後一行回答：它不在 3H 裡，證據也最弱。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annemergmed.2020.09.43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i.org/10.1016/j.annemergmed.2020.09.435" TargetMode="External"/><Relationship Id="rId2" Type="http://schemas.openxmlformats.org/officeDocument/2006/relationships/hyperlink" Target="https://doi.org/10.1001/jamasurg.2019.1152" TargetMode="External"/><Relationship Id="rId3" Type="http://schemas.openxmlformats.org/officeDocument/2006/relationships/hyperlink" Target="https://doi.org/10.1001/jamanetworkopen.2019.9448" TargetMode="External"/><Relationship Id="rId4" Type="http://schemas.openxmlformats.org/officeDocument/2006/relationships/hyperlink" Target="https://doi.org/10.1080/10903127.2023.2187905" TargetMode="External"/><Relationship Id="rId5" Type="http://schemas.openxmlformats.org/officeDocument/2006/relationships/hyperlink" Target="https://doi.org/10.1097/PCC.0000000000001735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737360"/>
            <a:ext cx="5852160" cy="58521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3840480"/>
            <a:ext cx="3108960" cy="3108960"/>
          </a:xfrm>
          <a:prstGeom prst="ellipse">
            <a:avLst/>
          </a:prstGeom>
          <a:solidFill>
            <a:srgbClr val="7A000E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234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EMT 教科書 CH27 · 頭頸脊椎與顏面外傷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頭部外傷的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3H-Bombs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低血氧 · 低血壓 · 過度通氣 —— 加上小兒的延伸證據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66928" y="4526280"/>
            <a:ext cx="67665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892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 p.732–733（EPIC-TBI）＋ EPIC4Kids 小兒次分析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5669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B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 教學版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B00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023360"/>
            <a:ext cx="5120640" cy="512064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0" y="22402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頭部外傷照護，首重避免 3H-Bombs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低血氧 · 低血壓 · 過度通氣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371600" y="4206240"/>
            <a:ext cx="5852160" cy="786384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06240"/>
            <a:ext cx="5852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九十、一一〇、四十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98080" y="4206240"/>
            <a:ext cx="4114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SpO₂ ≥ 90%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≥ 110 mmHg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1D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EtCO₂ 35–45 mmHg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378561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B7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Hypoxemia · Hypotension · Hyperventilation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到院前只要發生「一次」，死亡率就翻倍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45643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倍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41248" y="2487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一次低血氧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1248" y="28529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SpO₂ &lt; 90%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到院前只要記錄到一次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481328"/>
            <a:ext cx="345643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倍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0" y="2487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一次低血壓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0" y="28529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&lt; 90 mmHg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到院前只要記錄到一次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28432" y="1481328"/>
            <a:ext cx="3456432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02752" y="16642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2–6 倍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02752" y="2487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過度換氣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02752" y="28529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吹太快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是三者中傷害幅度最大的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160520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F6EAEB"/>
          </a:solidFill>
          <a:ln w="12700">
            <a:solidFill>
              <a:srgbClr val="E0C4C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" y="4224528"/>
            <a:ext cx="10323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這三個數字是可以「被我們製造」出來的 —— 也就可以被我們避免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32688" y="4681728"/>
            <a:ext cx="10323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教學定位：這一頁講完，學員才會願意在意後面那些「看起來很瑣碎」的速率與數字。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 p.732，依 EPIC-TBI（Excellence in Prehospital Injury Care – TBI）。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三個要守住的數字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4176" y="14813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711696" y="1481328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現場做法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1055096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938528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Hypoxemia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低血氧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94176" y="193852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SpO₂ ≥ 90%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711696" y="1938528"/>
            <a:ext cx="4837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持續給氧、持續監測；低於 90% 立即處理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779776"/>
            <a:ext cx="11055096" cy="841248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779776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Hypotension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低血壓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94176" y="2779776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≥ 110 mmHg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11696" y="2779776"/>
            <a:ext cx="4837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課本給的是成人值；小兒見下方註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621024"/>
            <a:ext cx="11055096" cy="8412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621024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Hyperventilation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過度通氣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94176" y="3621024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EtCO₂ 35–45 mmHg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711696" y="3621024"/>
            <a:ext cx="48371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有監測器材時以 EtCO₂ 為準，不是憑感覺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480560"/>
            <a:ext cx="11055096" cy="1170432"/>
          </a:xfrm>
          <a:prstGeom prst="roundRect">
            <a:avLst>
              <a:gd name="adj" fmla="val 7031"/>
            </a:avLst>
          </a:prstGeom>
          <a:solidFill>
            <a:srgbClr val="EDEFF7"/>
          </a:solidFill>
          <a:ln w="12700">
            <a:solidFill>
              <a:srgbClr val="C9CF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4572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延伸：小兒的血壓目標要用年齡別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≤28 天 &gt; 70　·　1–12 個月 &gt; 84　·　1–5 歲 &gt; 90　·　≥6 歲 &gt; 100　·　成人 ≥ 110 mmHg（BTF 院前指引 3rd ed）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注意：常見的 SBP &lt; 70+(2×年齡) 是低血壓的「定義」，上面這組是要「維持的目標」，兩者不可混用。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 p.732；小兒血壓目標為延伸，取自 BTF 院前指引 3rd ed Table 1。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VENTILATION RATE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 EtCO₂ 監測時，用「次數」控制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對象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4176" y="14813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一般情況（維持 EtCO₂ 35–45）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17536" y="1481328"/>
            <a:ext cx="3831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腦壓升高時（目標 30–35）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1055096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1938528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94176" y="193852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 次/分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17536" y="1938528"/>
            <a:ext cx="3831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次/分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724912"/>
            <a:ext cx="11055096" cy="786384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724912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兒童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94176" y="27249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次/分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17536" y="2724912"/>
            <a:ext cx="3831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次/分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511296"/>
            <a:ext cx="11055096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51129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嬰兒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94176" y="351129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次/分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17536" y="3511296"/>
            <a:ext cx="38313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次/分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297680"/>
            <a:ext cx="11055096" cy="137160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442569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記法：一般是 10 / 20 / 25，腦壓高時每一格「往上跳一階」→ 20 / 25 / 30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4846320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有監測器材時，速率只是起點，EtCO₂ 才是終點 —— 吹到數字進帶寬就停手，不要繼續照表加速。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嬰兒照成人的 10 次/分一定會積 CO₂；成人照嬰兒的 25 次/分就是在製造第三顆炸彈。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 p.732〈適當通氣及氧合〉與 p.733〈腦壓升高相關處置〉。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 5 分鐘，重複記錄這五項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68580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1792224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17556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血壓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44368" y="1755648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SBP 有沒有掉到目標以下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" y="2414016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950976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81328" y="23774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44368" y="2377440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有沒有掉到 90% 以下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976" y="3035808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950976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81328" y="299923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EtCO₂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944368" y="299923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有沒有掉到 35 以下（＝吹太快）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0976" y="3657600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81328" y="36210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944368" y="362102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有沒有比上一次掉 ≥2 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0976" y="4279392"/>
            <a:ext cx="365760" cy="36576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81328" y="42428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瞳孔大小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944368" y="4242816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有沒有變大、對光反射有沒有變差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90688" y="1481328"/>
            <a:ext cx="3831336" cy="3566160"/>
          </a:xfrm>
          <a:prstGeom prst="roundRect">
            <a:avLst>
              <a:gd name="adj" fmla="val 2308"/>
            </a:avLst>
          </a:prstGeom>
          <a:solidFill>
            <a:srgbClr val="F6EAEB"/>
          </a:solidFill>
          <a:ln w="12700">
            <a:solidFill>
              <a:srgbClr val="E0C4C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156448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為什麼是「重複」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56448" y="2212848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這五項全部是「趨勢題」，不是「單點題」。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掉 ≥2 分、瞳孔變化，都要有前一次的紀錄才看得出來。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只量一次，等於沒有量。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 p.733〈密切監測與詳細記錄〉，依 EPIC-TBI 建議。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什麼時候算「腦壓升高」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773936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44752" y="17007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下降 ≥ 2 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3957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和上一次紀錄比，不是和正常值比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81328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38544" y="1773936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6638544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87184" y="1700784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瞳孔對光反射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變得不明顯或消失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3957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含瞳孔放大、兩側不等大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895344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44752" y="38221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偏癱或單側肢體無力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2688" y="451713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新出現的、之前沒有的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602736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38544" y="3895344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6638544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87184" y="38221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庫欣氏徵象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451713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心跳過緩 ＋ 血壓升高 ＋ 呼吸不規則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（三者合稱，是晚期表現）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5742432"/>
            <a:ext cx="11055096" cy="658368"/>
          </a:xfrm>
          <a:prstGeom prst="roundRect">
            <a:avLst>
              <a:gd name="adj" fmla="val 12500"/>
            </a:avLst>
          </a:prstGeom>
          <a:solidFill>
            <a:srgbClr val="F6EAEB"/>
          </a:solidFill>
          <a:ln w="12700">
            <a:solidFill>
              <a:srgbClr val="E0C4C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32688" y="57424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出現以上任一情況，才啟動下一頁的處置 —— 沒有這些徵象就不要吹快。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 p.733〈腦壓升高相關處置〉。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腦壓升高時的三個處置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509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00784"/>
            <a:ext cx="146304" cy="896112"/>
          </a:xfrm>
          <a:prstGeom prst="roundRect">
            <a:avLst>
              <a:gd name="adj" fmla="val 50000"/>
            </a:avLst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6824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解開頸圈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33856" y="21214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減少頸部靜脈壓迫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73168" y="14630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最快、最沒有副作用的一步。頸椎保護改用徒手固定維持中立位。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1105509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73552"/>
            <a:ext cx="146304" cy="896112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1133856" y="325526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輕度過度通氣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33856" y="36941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 EtCO₂ 30–35 mmHg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73168" y="3035808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沒有監測器材時用次數：成人 20 次/分、兒童 25 次/分、嬰兒 30 次/分。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徵象一改善就回到 35–45 —— 這是暫時措施，不是新的常態。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608576"/>
            <a:ext cx="11055096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846320"/>
            <a:ext cx="146304" cy="896112"/>
          </a:xfrm>
          <a:prstGeom prst="roundRect">
            <a:avLst>
              <a:gd name="adj" fmla="val 50000"/>
            </a:avLst>
          </a:prstGeom>
          <a:solidFill>
            <a:srgbClr val="C89211"/>
          </a:solidFill>
          <a:ln/>
        </p:spPr>
      </p:sp>
      <p:sp>
        <p:nvSpPr>
          <p:cNvPr id="16" name="Text 14"/>
          <p:cNvSpPr/>
          <p:nvPr/>
        </p:nvSpPr>
        <p:spPr>
          <a:xfrm>
            <a:off x="1133856" y="4828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藥物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33856" y="526694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若有相關藥物流程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73168" y="4608576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可考慮降腦壓藥物、鎮靜藥物，甚至肌肉鬆弛劑。依各地 SOP 授權。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 p.733；表 27-2 為完整處置整理。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EPIC4KIDS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延伸：同一套指引用在小孩身上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研究的預先計畫小兒次分析：2,801 名 &lt;18 歲（導入前 2,041／導入後 760），送 Arizona 第一級創傷中心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55096" cy="457200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37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族群與結果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74336" y="1737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校正後勝算比 aOR（95% CI）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31936" y="173736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194560"/>
            <a:ext cx="11055096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94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全體 · 存活出院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74336" y="21945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1.16（0.70–1.92）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31936" y="219456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未改善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11055096" cy="731520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2926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全體 · 存活到住院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74336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2.41（1.17–5.21）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631936" y="292608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顯著改善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3657600"/>
            <a:ext cx="11055096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6576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 TBI · 存活出院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74336" y="36576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8.42（1.01 – &gt;100）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31936" y="365760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顯著，但區間極寬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389120"/>
            <a:ext cx="11055096" cy="731520"/>
          </a:xfrm>
          <a:prstGeom prst="rect">
            <a:avLst/>
          </a:prstGeom>
          <a:solidFill>
            <a:srgbClr val="FBF3F3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4389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重度＋正壓通氣 · 存活出院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74336" y="43891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9.13（0.79 – &gt;100）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31936" y="4389120"/>
            <a:ext cx="29169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方向一致，未達顯著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4956048"/>
            <a:ext cx="11055096" cy="960120"/>
          </a:xfrm>
          <a:prstGeom prst="roundRect">
            <a:avLst>
              <a:gd name="adj" fmla="val 8571"/>
            </a:avLst>
          </a:prstGeom>
          <a:solidFill>
            <a:srgbClr val="F6EAEB"/>
          </a:solidFill>
          <a:ln w="12700">
            <a:solidFill>
              <a:srgbClr val="E0C4C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" y="4956048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8.42 的信賴區間下界貼在 1.01、上界破百 —— 方向大概是好的，幅度完全不知道。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不要在教材上寫成「存活率提高 8 倍」。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EPIC4Kids, Ann Emerg Med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效果集中在「看起來很嚴重、但還有機會」的孩子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EDEFF7"/>
          </a:solidFill>
          <a:ln w="12700">
            <a:solidFill>
              <a:srgbClr val="C9CFE6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0976" y="1700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三個族群，三種結果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50976" y="2350008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22128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52928" y="221284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看不到效益 —— 本來大多會好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50976" y="3063240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1225296" y="29260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52928" y="292608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這裡有救 —— 效益集中在這一群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0976" y="3776472"/>
            <a:ext cx="128016" cy="128016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1225296" y="36393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最危急（critical）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52928" y="363931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看不到效益 —— 傷害已經定型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0976" y="39684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作者結論：存在「依嚴重度的機會之窗」，並支持繼續推廣小兒院前 TBI 指引 —— 不是「指引沒用」。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481328"/>
            <a:ext cx="5486400" cy="3017520"/>
          </a:xfrm>
          <a:prstGeom prst="roundRect">
            <a:avLst>
              <a:gd name="adj" fmla="val 2727"/>
            </a:avLst>
          </a:prstGeom>
          <a:solidFill>
            <a:srgbClr val="F6EAEB"/>
          </a:solidFill>
          <a:ln w="12700">
            <a:solidFill>
              <a:srgbClr val="E0C4C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93408" y="1700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對現場的意思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93408" y="2212848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把基本功做好，最可能改變結局的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就是那個「看起來很糟、但還沒到最糟」的孩子。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對他而言，3H-Bombs 每避免一顆，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都是實實在在的差別。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這也解釋了為什麼全體數據看不出效果 ——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效益被中度與 critical 兩群稀釋掉了。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4700016"/>
            <a:ext cx="11055096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" y="4700016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教學版說法：「這套東西不會把所有孩子救回來 —— 但它救得回來的那一群，正是你們最常遇到的那一群。」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同前註。成人 EPIC 主研究也呈現同樣的嚴重度依賴型態。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但書：小孩的 EtCO₂ 會低估真實 CO₂</a:t>
            </a:r>
            <a:endParaRPr lang="en-US" sz="3000" dirty="0"/>
          </a:p>
        </p:txBody>
      </p:sp>
      <p:pic>
        <p:nvPicPr>
          <p:cNvPr id="4" name="Image 0" descr="etco2_gap_A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63040"/>
            <a:ext cx="6858000" cy="27163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1463040"/>
            <a:ext cx="6858000" cy="2716389"/>
          </a:xfrm>
          <a:prstGeom prst="rect">
            <a:avLst/>
          </a:prstGeom>
          <a:ln w="12700">
            <a:solidFill>
              <a:srgbClr val="E4D7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4289157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JT, et al. JAMA Netw Open. 2019;2(8):e199448, Figure 1（panel A 與 C）© American Medical Association．為院內教學討論引用。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882128" y="1463040"/>
            <a:ext cx="3739896" cy="4023360"/>
          </a:xfrm>
          <a:prstGeom prst="roundRect">
            <a:avLst>
              <a:gd name="adj" fmla="val 2200"/>
            </a:avLst>
          </a:prstGeom>
          <a:solidFill>
            <a:srgbClr val="F6EAEB"/>
          </a:solidFill>
          <a:ln w="12700">
            <a:solidFill>
              <a:srgbClr val="E0C4C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47888" y="17007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三個紅旗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47888" y="2103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此時螢幕上的數字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比動脈血的真實值低：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47888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灌流差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47888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低血壓、休克、CPR 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47888" y="3529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肺有問題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47888" y="3803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溺水、氣喘、肺挫傷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差距可達 10 mmHg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247888" y="43159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受傷最初數小時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47888" y="4590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 8 小時一致性最差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47888" y="50292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所以：螢幕 40，真實可能是 45–50。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絕不因為數字偏低就再吹快。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全部病人平均高 2.7 mmHg，不到一半落在可接受的 0–5 mmHg 內；發生小兒 ARDS 者平均高近 10 mmHg。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現場帶走這一頁就夠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5096" cy="1170432"/>
          </a:xfrm>
          <a:prstGeom prst="roundRect">
            <a:avLst>
              <a:gd name="adj" fmla="val 7031"/>
            </a:avLst>
          </a:prstGeom>
          <a:solidFill>
            <a:srgbClr val="FFF4D6"/>
          </a:solidFill>
          <a:ln w="12700">
            <a:solidFill>
              <a:srgbClr val="E8CE84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463040"/>
            <a:ext cx="10607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4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九十、一一〇、四十；腦壓高才吹快，只吹到三十五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2834640"/>
            <a:ext cx="1105509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3090672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26464" y="30358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歲、GCS 7、已 BVM、SpO₂ 96%、SBP 88、EtCO₂ 28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10528" y="30358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吹太快 → 放慢到 35–45；同時處理血壓（1–5 歲目標 &gt;90）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26464" y="3703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常見錯誤：以為 28 是「通氣良好」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297680"/>
            <a:ext cx="11055096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77824" y="4553712"/>
            <a:ext cx="384048" cy="38404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/>
          <p:nvPr/>
        </p:nvSpPr>
        <p:spPr>
          <a:xfrm>
            <a:off x="877824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26464" y="44988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歲、GCS 8、右瞳放大、對光反射消失、心跳變慢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0528" y="4498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符合腦壓升高 → 解頸圈＋吹到 EtCO₂ 30–35（或 25 次/分）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26464" y="51663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這是唯一該吹快的情境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兩題都在考同一件事：別吹快、血壓優先、EtCO₂ 是儀表不是目標。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2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11055096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2700">
            <a:solidFill>
              <a:srgbClr val="E4D7D8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007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7007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241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EMT 教科書中冊 CH27 頭頸脊椎與顏面外傷，p.732–733（3H-Bombs、通氣速率、五項監測、腦壓升高處置）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96112" y="22494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4942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EPIC4Kids: Effect of Implementing the Out-of-Hospital TBI Treatment Guidelines in Children. Ann Emerg Med.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79806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79806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Spaite DW, et al. Statewide Implementation of Prehospital TBI Treatment Guidelines (EPIC). JAMA Surg. 2019.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33467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4670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Yang JT, et al. Agreement Between PaCO₂ and EtCO₂ in Children. JAMA Netw Open. 2019;2(8):e199448.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389534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89534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Prehospital Guidelines for the Management of TBI – 3rd Edition（小兒血壓目標 Table 1）. Prehosp Emerg Care. 2023.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6112" y="444398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u="sng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Kochanek PM, et al. Guidelines for the Management of Pediatric Severe TBI, 3rd Edition. Pediatr Crit Care Med. 2019.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12" y="5029200"/>
            <a:ext cx="10424160" cy="0"/>
          </a:xfrm>
          <a:prstGeom prst="line">
            <a:avLst/>
          </a:prstGeom>
          <a:noFill/>
          <a:ln w="12700">
            <a:solidFill>
              <a:srgbClr val="E0C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5138928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課本未涵蓋「抬高床頭」：該做法只有降腦壓的生理證據，Cochrane 評為 very low quality，小兒指引無任何分級建議 —— 血壓沒達標前不要抬。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2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 整理。圖片版權屬 American Medical Association，僅為院內教學討論引用。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2026-08-19T19:04:59Z</dcterms:created>
  <dcterms:modified xsi:type="dcterms:W3CDTF">2026-08-19T19:04:59Z</dcterms:modified>
</cp:coreProperties>
</file>