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開場：這堂課只講三件事，而且會誠實說明每一件事的證據有多少。重點順序是：別吹快 &gt; 血壓血氧 &gt; 床頭角度。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口訣先給，證據後補。學員記得住的是三個數字，不是研究名稱。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把「二次腦傷」講成唯一能改變的東西，學員才會認真看待通氣速率這種看似瑣碎的事。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這張表決定後面所有內容的講述力度。學員最容易犯的錯是把三件事講得一樣重要。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重點不是 5.58 這個數字，是「只降了一個中間指標」。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這段話要念出來。它是全課唯一一個「指引級文獻說我們不知道」的例子。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用「協定自己都不寫」來收斂床頭角度的分量，避免學員把它當救命動作。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這一頁是全課的說服核心：不是理論，是多篇資料方向一致。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帶狀圖是線性刻度，區段位置與標示數值一致（已驗）。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先講套餐內容，再看圖。學員要知道 EPIC 不是單一動作的實驗。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引導提問：為什麼最重的那群反而更差？答案可能是存活偏差與更積極插管，但重點是「別以為做越多越好」。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現場只需要記兩個數字帶：35–45 常規、30–35 腦疝。PaCO2 那兩列是給院內同仁的背景。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強調：指引推薦一個工具，同時警告它不夠 —— 這正是為什麼要教手法而不只是教儀器。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學員常以為小兒有自己的一套證據。實際上只有一條 Level III。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這一頁回答「為什麼不能照成人做」。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這是教學員讀信賴區間的最好例子 —— 點估計漂亮不代表結論強。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避免學員把「全體沒改善」誤讀成「不用做」。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請學員看右圖的藍線位置：那是「螢幕顯示 40、動脈其實 50」的畫面。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這一頁是小兒段落最實用的一頁。EtCO2 低估的方向要講清楚：真實值比螢幕高。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務必分清「定義」與「目標」。這是最容易被誤用的一頁。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請學員複誦一次。這是全課唯一要求背下來的東西。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現場示範：拿 BVM 和節拍器，讓兩位學員各捏 30 秒，比較 EtCO2。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這是本課最重要的誠實揭露。講師自己也要記得：3rd ed 沒有年齡別速率。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流程卡順序不可顛倒。學員最常做的錯事是先抬頭再量血壓。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這是收斂頁：把注意力拉回三件真正有預後證據的事。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可以當成分組討論題，每組抽一題並說明理由。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這一頁讓學員知道我們沒有把外推當定論，反而更容易接受前面的建議。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這兩張表是學員最常帶走的部分。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這張表保護講者，也教學員怎麼分級證據。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所有連結皆為 DOI 或發行機構官方頁面，不使用搜尋結果或聚合網站。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所有連結皆為 DOI 或發行機構官方頁面，不使用搜尋結果或聚合網站。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limzijiang.github.io/ped-tbi-ventilation-position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07/s12028-024-02020-3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02/14651858.CD009986.pub2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ajem.2024.07.063" TargetMode="External"/><Relationship Id="rId2" Type="http://schemas.openxmlformats.org/officeDocument/2006/relationships/hyperlink" Target="https://doi.org/10.1016/j.injury.2021.01.008" TargetMode="External"/><Relationship Id="rId3" Type="http://schemas.openxmlformats.org/officeDocument/2006/relationships/hyperlink" Target="https://www.facs.org/quality-programs/trauma/quality/best-practices-guidelines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80/10903127.2023.2187905" TargetMode="External"/><Relationship Id="rId2" Type="http://schemas.openxmlformats.org/officeDocument/2006/relationships/hyperlink" Target="https://doi.org/10.1001/jamanetworkopen.2024.57506" TargetMode="External"/><Relationship Id="rId3" Type="http://schemas.openxmlformats.org/officeDocument/2006/relationships/hyperlink" Target="https://doi.org/10.1186/s13054-025-05604-3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07/s12028-021-01312-2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01/jamasurg.2019.1152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01/jamasurg.2019.1152" TargetMode="External"/><Relationship Id="rId1" Type="http://schemas.openxmlformats.org/officeDocument/2006/relationships/image" Target="../media/image-1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80/10903127.2023.2187905" TargetMode="External"/><Relationship Id="rId2" Type="http://schemas.openxmlformats.org/officeDocument/2006/relationships/hyperlink" Target="https://doi.org/10.1227/neu.0000000000002672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80/10903127.2023.2187905" TargetMode="External"/><Relationship Id="rId2" Type="http://schemas.openxmlformats.org/officeDocument/2006/relationships/hyperlink" Target="https://doi.org/10.1038/s41598-021-89913-x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7/PCC.000000000000173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annemergmed.2020.09.43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01/jamanetworkopen.2019.9448" TargetMode="External"/><Relationship Id="rId1" Type="http://schemas.openxmlformats.org/officeDocument/2006/relationships/image" Target="../media/image-18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227/neu.0000000000002672" TargetMode="External"/><Relationship Id="rId2" Type="http://schemas.openxmlformats.org/officeDocument/2006/relationships/hyperlink" Target="https://doi.org/10.1097/PEC.0000000000000803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80/10903127.2023.2187905" TargetMode="External"/><Relationship Id="rId2" Type="http://schemas.openxmlformats.org/officeDocument/2006/relationships/hyperlink" Target="https://doi.org/10.1227/neu.0000000000002672" TargetMode="External"/><Relationship Id="rId3" Type="http://schemas.openxmlformats.org/officeDocument/2006/relationships/hyperlink" Target="https://doi.org/10.1097/PCC.0000000000001735" TargetMode="External"/><Relationship Id="rId4" Type="http://schemas.openxmlformats.org/officeDocument/2006/relationships/hyperlink" Target="https://doi.org/10.1001/jamasurg.2019.1152" TargetMode="External"/><Relationship Id="rId5" Type="http://schemas.openxmlformats.org/officeDocument/2006/relationships/hyperlink" Target="https://doi.org/10.1016/j.annemergmed.2020.09.435" TargetMode="External"/><Relationship Id="rId6" Type="http://schemas.openxmlformats.org/officeDocument/2006/relationships/hyperlink" Target="https://doi.org/10.1007/s12028-024-02020-3" TargetMode="External"/><Relationship Id="rId7" Type="http://schemas.openxmlformats.org/officeDocument/2006/relationships/hyperlink" Target="https://doi.org/10.1002/14651858.CD009986.pub2" TargetMode="External"/><Relationship Id="rId8" Type="http://schemas.openxmlformats.org/officeDocument/2006/relationships/hyperlink" Target="https://doi.org/10.1001/jamanetworkopen.2019.9448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1598-021-89913-x" TargetMode="External"/><Relationship Id="rId2" Type="http://schemas.openxmlformats.org/officeDocument/2006/relationships/hyperlink" Target="https://doi.org/10.1001/jamanetworkopen.2024.57506" TargetMode="External"/><Relationship Id="rId3" Type="http://schemas.openxmlformats.org/officeDocument/2006/relationships/hyperlink" Target="https://doi.org/10.1186/s13054-025-05604-3" TargetMode="External"/><Relationship Id="rId4" Type="http://schemas.openxmlformats.org/officeDocument/2006/relationships/hyperlink" Target="https://doi.org/10.1007/s12028-021-01312-2" TargetMode="External"/><Relationship Id="rId5" Type="http://schemas.openxmlformats.org/officeDocument/2006/relationships/hyperlink" Target="https://doi.org/10.1097/PEC.0000000000000803" TargetMode="External"/><Relationship Id="rId6" Type="http://schemas.openxmlformats.org/officeDocument/2006/relationships/hyperlink" Target="https://doi.org/10.1016/j.ajem.2024.07.063" TargetMode="External"/><Relationship Id="rId7" Type="http://schemas.openxmlformats.org/officeDocument/2006/relationships/hyperlink" Target="https://doi.org/10.1016/j.injury.2021.01.008" TargetMode="External"/><Relationship Id="rId8" Type="http://schemas.openxmlformats.org/officeDocument/2006/relationships/hyperlink" Target="https://www.facs.org/quality-programs/trauma/quality/best-practices-guidelines/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E1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600200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6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EMT / EMT-P 進階救護教學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2011680"/>
            <a:ext cx="110578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小兒疑似頭部外傷的三件事</a:t>
            </a:r>
            <a:endParaRPr lang="en-US" sz="4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400" b="1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抬高床頭 · 避免過度換氣 · EtCO2 監測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356616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先看成人證據力，再看小兒有多少 —— 然後化簡成現場記得住的口訣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4206240"/>
            <a:ext cx="7863840" cy="0"/>
          </a:xfrm>
          <a:prstGeom prst="line">
            <a:avLst/>
          </a:prstGeom>
          <a:noFill/>
          <a:ln w="12700">
            <a:solidFill>
              <a:srgbClr val="323C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438912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實證來源：BTF 院前指引 3rd ed（2023）· BTF 小兒重度 TBI 指引 3rd ed（2019）· EPIC / EPIC4Kids · Cochrane · 2024–2025 meta-analyses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2026-08-17 版　·　線上投影片與長文版：</a:t>
            </a:r>
            <a:pPr indent="0" marL="0">
              <a:lnSpc>
                <a:spcPct val="130000"/>
              </a:lnSpc>
              <a:buNone/>
            </a:pPr>
            <a:r>
              <a:rPr lang="en-US" sz="1150" u="sng" dirty="0">
                <a:solidFill>
                  <a:srgbClr val="6FB6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limzijiang.github.io/ped-tbi-ventilation-position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一句話結論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三個數字 + 一個例外，其餘都是細節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533546" cy="1627632"/>
          </a:xfrm>
          <a:prstGeom prst="roundRect">
            <a:avLst>
              <a:gd name="adj" fmla="val 4494"/>
            </a:avLst>
          </a:prstGeom>
          <a:solidFill>
            <a:srgbClr val="212A38"/>
          </a:solidFill>
          <a:ln w="12700">
            <a:solidFill>
              <a:srgbClr val="323C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737360"/>
            <a:ext cx="353354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30°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58368" y="2426208"/>
            <a:ext cx="3350666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頭（整床／整板）抬高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但血壓先達標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29074" y="1645920"/>
            <a:ext cx="3533546" cy="1627632"/>
          </a:xfrm>
          <a:prstGeom prst="roundRect">
            <a:avLst>
              <a:gd name="adj" fmla="val 4494"/>
            </a:avLst>
          </a:prstGeom>
          <a:solidFill>
            <a:srgbClr val="212A38"/>
          </a:solidFill>
          <a:ln w="12700">
            <a:solidFill>
              <a:srgbClr val="323C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9074" y="1737360"/>
            <a:ext cx="353354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A8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420514" y="2426208"/>
            <a:ext cx="3350666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成人約 10 次/分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小孩照 EtCO2 調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91221" y="1645920"/>
            <a:ext cx="3533546" cy="1627632"/>
          </a:xfrm>
          <a:prstGeom prst="roundRect">
            <a:avLst>
              <a:gd name="adj" fmla="val 4494"/>
            </a:avLst>
          </a:prstGeom>
          <a:solidFill>
            <a:srgbClr val="212A38"/>
          </a:solidFill>
          <a:ln w="12700">
            <a:solidFill>
              <a:srgbClr val="323C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1221" y="1737360"/>
            <a:ext cx="353354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EC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182661" y="2426208"/>
            <a:ext cx="3350666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EtCO2 目標 40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範圍 35–45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438144"/>
            <a:ext cx="11057839" cy="1078992"/>
          </a:xfrm>
          <a:prstGeom prst="roundRect">
            <a:avLst>
              <a:gd name="adj" fmla="val 7627"/>
            </a:avLst>
          </a:prstGeom>
          <a:solidFill>
            <a:srgbClr val="2A1519"/>
          </a:solidFill>
          <a:ln w="12700">
            <a:solidFill>
              <a:srgbClr val="6E2A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584448"/>
            <a:ext cx="106555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唯一的例外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86384" y="3730752"/>
            <a:ext cx="1061892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只有出現腦疝徵象才可以吹快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（瞳孔散大固定、姿勢異常、Cushing triad、GCS&lt;9 或持續惡化），目標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EtCO2 30–35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，時間越短越好。一到院、徵象一改善就回到 40。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66928" y="4700016"/>
            <a:ext cx="11057839" cy="786384"/>
          </a:xfrm>
          <a:prstGeom prst="roundRect">
            <a:avLst>
              <a:gd name="adj" fmla="val 9302"/>
            </a:avLst>
          </a:prstGeom>
          <a:solidFill>
            <a:srgbClr val="2B2113"/>
          </a:solidFill>
          <a:ln w="12700">
            <a:solidFill>
              <a:srgbClr val="6B52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855464"/>
            <a:ext cx="566928" cy="274320"/>
          </a:xfrm>
          <a:prstGeom prst="roundRect">
            <a:avLst>
              <a:gd name="adj" fmla="val 46667"/>
            </a:avLst>
          </a:prstGeom>
          <a:solidFill>
            <a:srgbClr val="F0A836"/>
          </a:solidFill>
          <a:ln w="12700">
            <a:solidFill>
              <a:srgbClr val="F0A8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85546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比喻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408176" y="4818888"/>
            <a:ext cx="100154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過度換氣是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0A8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滅火器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：真的失火時該按下去，但沒有人會一路噴著滅火器開車 —— 預防性地一直吹快，等於把腦血流一路噴掉。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我們在對抗的是「二次腦傷」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撞擊那一下我們改不了；接下來 30 分鐘可以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5368900" cy="1874520"/>
          </a:xfrm>
          <a:prstGeom prst="roundRect">
            <a:avLst>
              <a:gd name="adj" fmla="val 4390"/>
            </a:avLst>
          </a:prstGeom>
          <a:solidFill>
            <a:srgbClr val="2A1519"/>
          </a:solidFill>
          <a:ln w="12700">
            <a:solidFill>
              <a:srgbClr val="6E2A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792224"/>
            <a:ext cx="496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三個可修正的傷害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86384" y="2139696"/>
            <a:ext cx="494827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缺氧　</a:t>
            </a:r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SpO2 &lt; 90%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低血壓　</a:t>
            </a:r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（依年齡別目標）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低碳酸　</a:t>
            </a:r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EtCO2 &lt; 35，也就是吹太快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55868" y="1645920"/>
            <a:ext cx="5368900" cy="1874520"/>
          </a:xfrm>
          <a:prstGeom prst="roundRect">
            <a:avLst>
              <a:gd name="adj" fmla="val 4390"/>
            </a:avLst>
          </a:prstGeom>
          <a:solidFill>
            <a:srgbClr val="12262A"/>
          </a:solidFill>
          <a:ln w="12700">
            <a:solidFill>
              <a:srgbClr val="2360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7036" y="1792224"/>
            <a:ext cx="496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為什麼低碳酸會傷腦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475324" y="2139696"/>
            <a:ext cx="494827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 掉 → 腦血管收縮 → 腦血流下降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受傷早期約一半病人腦血流已掉到剩 </a:t>
            </a:r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此時再吹快＝在缺血的腦上再減供血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703320"/>
            <a:ext cx="11057839" cy="822960"/>
          </a:xfrm>
          <a:prstGeom prst="roundRect">
            <a:avLst>
              <a:gd name="adj" fmla="val 8889"/>
            </a:avLst>
          </a:prstGeom>
          <a:solidFill>
            <a:srgbClr val="2B2113"/>
          </a:solidFill>
          <a:ln w="12700">
            <a:solidFill>
              <a:srgbClr val="6B52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858768"/>
            <a:ext cx="566928" cy="274320"/>
          </a:xfrm>
          <a:prstGeom prst="roundRect">
            <a:avLst>
              <a:gd name="adj" fmla="val 46667"/>
            </a:avLst>
          </a:prstGeom>
          <a:solidFill>
            <a:srgbClr val="F0A836"/>
          </a:solidFill>
          <a:ln w="12700">
            <a:solidFill>
              <a:srgbClr val="F0A8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8587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比喻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408176" y="3822192"/>
            <a:ext cx="100154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 是腦血管的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0A8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瓦斯旋鈕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。把 CO2 吹掉，就是把旋鈕轉小 —— 螢幕上的「腦壓」看起來乖了，但爐火（腦血流）也一起小了。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66344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D2028"/>
          </a:solidFill>
          <a:ln w="12700">
            <a:solidFill>
              <a:srgbClr val="4A43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4773168"/>
            <a:ext cx="1061892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本課的排序邏輯：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有病人預後證據的優先教（避免過度換氣、血壓、血氧）；只有生理指標證據的放後面（抬高床頭）。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三項干預的證據力不一樣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教學力度應該跟著證據力走，不要三件事都講得一樣硬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2743200"/>
                <a:gridCol w="236829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干預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成人證據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小兒證據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臨床結果證據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避免過度換氣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多篇觀察性研究方向一致＋EPIC 前後對照（較強）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BTF 小兒指引 Level III（weak）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死亡率、神經預後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連續 EtCO2 監測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BTF 3rd ed Strong 建議，但屬過程指標（中）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不表態能否取代 PaCO2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無直接 RCT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抬高床頭 30°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降 ICP 有效；Cochrane 評 very low（最弱）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完全沒有分級建議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無任何資料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427939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證據等級為本簡報依各指引原文與系統性回顧結論歸納（概算式分級，非官方 GRADE 評分）。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4626864"/>
            <a:ext cx="11057839" cy="914400"/>
          </a:xfrm>
          <a:prstGeom prst="roundRect">
            <a:avLst>
              <a:gd name="adj" fmla="val 8000"/>
            </a:avLst>
          </a:prstGeom>
          <a:solidFill>
            <a:srgbClr val="2B2113"/>
          </a:solidFill>
          <a:ln w="12700">
            <a:solidFill>
              <a:srgbClr val="6B522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4782312"/>
            <a:ext cx="566928" cy="274320"/>
          </a:xfrm>
          <a:prstGeom prst="roundRect">
            <a:avLst>
              <a:gd name="adj" fmla="val 46667"/>
            </a:avLst>
          </a:prstGeom>
          <a:solidFill>
            <a:srgbClr val="F0A836"/>
          </a:solidFill>
          <a:ln w="12700">
            <a:solidFill>
              <a:srgbClr val="F0A83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47823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比喻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408176" y="4745736"/>
            <a:ext cx="1001542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像出門帶的三樣東西：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0A8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安全帶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（避免吹快，證據硬）、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0A8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後照鏡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（EtCO2，幫你知道有沒有做對）、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0A8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坐墊高度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（抬高床頭，合理、舒服，但沒人證明它救命）。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成人 · 抬高床頭 1/3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30° 確實降腦壓 —— 但只降腦壓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年系統性回顧與 meta 分析，25 篇研究（16 篇可量化）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2593010" cy="1417320"/>
          </a:xfrm>
          <a:prstGeom prst="roundRect">
            <a:avLst>
              <a:gd name="adj" fmla="val 5161"/>
            </a:avLst>
          </a:prstGeom>
          <a:solidFill>
            <a:srgbClr val="212A38"/>
          </a:solidFill>
          <a:ln w="12700">
            <a:solidFill>
              <a:srgbClr val="323C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737360"/>
            <a:ext cx="25930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−5.58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2258568"/>
            <a:ext cx="24101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ICP（mmHg）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30° vs 平躺，p&lt;0.00001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8538" y="1645920"/>
            <a:ext cx="2593010" cy="1417320"/>
          </a:xfrm>
          <a:prstGeom prst="roundRect">
            <a:avLst>
              <a:gd name="adj" fmla="val 5161"/>
            </a:avLst>
          </a:prstGeom>
          <a:solidFill>
            <a:srgbClr val="212A38"/>
          </a:solidFill>
          <a:ln w="12700">
            <a:solidFill>
              <a:srgbClr val="323C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8538" y="1737360"/>
            <a:ext cx="25930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A8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−2.48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79978" y="2258568"/>
            <a:ext cx="24101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CPP（mmHg）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p=0.13 無差異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0148" y="1645920"/>
            <a:ext cx="2593010" cy="1417320"/>
          </a:xfrm>
          <a:prstGeom prst="roundRect">
            <a:avLst>
              <a:gd name="adj" fmla="val 5161"/>
            </a:avLst>
          </a:prstGeom>
          <a:solidFill>
            <a:srgbClr val="212A38"/>
          </a:solidFill>
          <a:ln w="12700">
            <a:solidFill>
              <a:srgbClr val="323C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0148" y="1737360"/>
            <a:ext cx="25930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A8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01588" y="2258568"/>
            <a:ext cx="24101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腦氧 SjvO2、PbtO2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無差異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31757" y="1645920"/>
            <a:ext cx="2593010" cy="1417320"/>
          </a:xfrm>
          <a:prstGeom prst="roundRect">
            <a:avLst>
              <a:gd name="adj" fmla="val 5161"/>
            </a:avLst>
          </a:prstGeom>
          <a:solidFill>
            <a:srgbClr val="212A38"/>
          </a:solidFill>
          <a:ln w="12700">
            <a:solidFill>
              <a:srgbClr val="323C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31757" y="1737360"/>
            <a:ext cx="25930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無資料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23197" y="2157984"/>
            <a:ext cx="241013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死亡率／功能預後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246120"/>
            <a:ext cx="11057839" cy="868680"/>
          </a:xfrm>
          <a:prstGeom prst="roundRect">
            <a:avLst>
              <a:gd name="adj" fmla="val 9474"/>
            </a:avLst>
          </a:prstGeom>
          <a:solidFill>
            <a:srgbClr val="171D27"/>
          </a:solidFill>
          <a:ln w="12700">
            <a:solidFill>
              <a:srgbClr val="323C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3383280"/>
            <a:ext cx="1061892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TBI 次群組結果一致；抬高超過 30° 通常再降一些 ICP，但 </a:t>
            </a:r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45° 並沒有比 30° 更好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。也就是說：30° 是合理的停損點，沒有理由抬更高。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66928" y="4297680"/>
            <a:ext cx="11057839" cy="914400"/>
          </a:xfrm>
          <a:prstGeom prst="roundRect">
            <a:avLst>
              <a:gd name="adj" fmla="val 8000"/>
            </a:avLst>
          </a:prstGeom>
          <a:solidFill>
            <a:srgbClr val="2B2113"/>
          </a:solidFill>
          <a:ln w="12700">
            <a:solidFill>
              <a:srgbClr val="6B52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4453128"/>
            <a:ext cx="566928" cy="274320"/>
          </a:xfrm>
          <a:prstGeom prst="roundRect">
            <a:avLst>
              <a:gd name="adj" fmla="val 46667"/>
            </a:avLst>
          </a:prstGeom>
          <a:solidFill>
            <a:srgbClr val="F0A836"/>
          </a:solidFill>
          <a:ln w="12700">
            <a:solidFill>
              <a:srgbClr val="F0A8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4531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比喻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408176" y="4416552"/>
            <a:ext cx="1001542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抬高床頭像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0A8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把水塔的洩壓閥打開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：管壓（ICP）確實降了，但如果幫浦（血壓）本來就弱，頂樓（腦）拿到的水並沒有變多 —— 這正是 CPP 沒改善的意思。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535838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來源：</a:t>
            </a:r>
            <a:pPr indent="0" marL="0">
              <a:lnSpc>
                <a:spcPct val="115000"/>
              </a:lnSpc>
              <a:buNone/>
            </a:pPr>
            <a:r>
              <a:rPr lang="en-US" sz="1050" u="sng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Neurocritical Care 2024 系統性回顧／meta 分析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成人 · 抬高床頭 2/3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Cochrane：證據品質 very low，而且可能有害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這一頁是為什麼「抬高」不能教成鐵律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2004" cy="914400"/>
          </a:xfrm>
          <a:prstGeom prst="rect">
            <a:avLst/>
          </a:prstGeom>
          <a:solidFill>
            <a:srgbClr val="E2404C"/>
          </a:solidFill>
          <a:ln w="12700">
            <a:solidFill>
              <a:srgbClr val="E240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645920"/>
            <a:ext cx="108383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「研究之間缺乏一致性、資料稀少、受試者反應變異大，且沒有證據顯示此效果與臨床結果有適當相關 —— 使我們無法對臨床實務下結論。」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2743200"/>
            <a:ext cx="5368900" cy="1600200"/>
          </a:xfrm>
          <a:prstGeom prst="roundRect">
            <a:avLst>
              <a:gd name="adj" fmla="val 5143"/>
            </a:avLst>
          </a:prstGeom>
          <a:solidFill>
            <a:srgbClr val="2A1519"/>
          </a:solidFill>
          <a:ln w="12700">
            <a:solidFill>
              <a:srgbClr val="6E2A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889504"/>
            <a:ext cx="496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可能的傷害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86384" y="3236976"/>
            <a:ext cx="49482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靜脈回流減少 →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CPP 下降、腦缺血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autoregulation 受損者風險更高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低血容外傷病人容易被抬出低血壓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5868" y="2743200"/>
            <a:ext cx="5368900" cy="1600200"/>
          </a:xfrm>
          <a:prstGeom prst="roundRect">
            <a:avLst>
              <a:gd name="adj" fmla="val 5143"/>
            </a:avLst>
          </a:prstGeom>
          <a:solidFill>
            <a:srgbClr val="12262A"/>
          </a:solidFill>
          <a:ln w="12700">
            <a:solidFill>
              <a:srgbClr val="2360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7036" y="2889504"/>
            <a:ext cx="496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Cochrane 的替代建議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475324" y="3236976"/>
            <a:ext cx="49482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角度應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個別化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，依 ICP／CPP／血壓反應調整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不是套用固定 30° 目標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4526280"/>
            <a:ext cx="11057839" cy="822960"/>
          </a:xfrm>
          <a:prstGeom prst="roundRect">
            <a:avLst>
              <a:gd name="adj" fmla="val 8889"/>
            </a:avLst>
          </a:prstGeom>
          <a:solidFill>
            <a:srgbClr val="2B2113"/>
          </a:solidFill>
          <a:ln w="12700">
            <a:solidFill>
              <a:srgbClr val="6B52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4681728"/>
            <a:ext cx="566928" cy="274320"/>
          </a:xfrm>
          <a:prstGeom prst="roundRect">
            <a:avLst>
              <a:gd name="adj" fmla="val 46667"/>
            </a:avLst>
          </a:prstGeom>
          <a:solidFill>
            <a:srgbClr val="F0A836"/>
          </a:solidFill>
          <a:ln w="12700">
            <a:solidFill>
              <a:srgbClr val="F0A8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6817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比喻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408176" y="4645152"/>
            <a:ext cx="100154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為了讓電費帳單漂亮而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0A8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關掉冷氣主機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數字（ICP）確實好看了，但人在裡面熱昏（腦缺血）。降腦壓不是目的，維持腦灌流才是。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54864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來源：</a:t>
            </a:r>
            <a:pPr indent="0" marL="0">
              <a:lnSpc>
                <a:spcPct val="115000"/>
              </a:lnSpc>
              <a:buNone/>
            </a:pPr>
            <a:r>
              <a:rPr lang="en-US" sz="1050" u="sng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Cochrane 2017：Elevation of the Head in Severe TBI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成人 · 抬高床頭 3/3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院前協定自己也不統一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如果它真的很關鍵，協定不會長這樣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5368900" cy="1828800"/>
          </a:xfrm>
          <a:prstGeom prst="roundRect">
            <a:avLst>
              <a:gd name="adj" fmla="val 4500"/>
            </a:avLst>
          </a:prstGeom>
          <a:solidFill>
            <a:srgbClr val="2B2113"/>
          </a:solidFill>
          <a:ln w="12700">
            <a:solidFill>
              <a:srgbClr val="6B52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792224"/>
            <a:ext cx="496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美國 32 州 EMS 協定盤點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86968" y="2304288"/>
            <a:ext cx="4728820" cy="1005840"/>
          </a:xfrm>
          <a:prstGeom prst="roundRect">
            <a:avLst>
              <a:gd name="adj" fmla="val 7273"/>
            </a:avLst>
          </a:prstGeom>
          <a:solidFill>
            <a:srgbClr val="212A38"/>
          </a:solidFill>
          <a:ln w="12700">
            <a:solidFill>
              <a:srgbClr val="323C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395728"/>
            <a:ext cx="4728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A8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78408" y="2916936"/>
            <a:ext cx="45459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（46.9%）才明文寫「抬高床頭」為降腦壓措施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5868" y="1645920"/>
            <a:ext cx="5368900" cy="1828800"/>
          </a:xfrm>
          <a:prstGeom prst="roundRect">
            <a:avLst>
              <a:gd name="adj" fmla="val 4500"/>
            </a:avLst>
          </a:prstGeom>
          <a:solidFill>
            <a:srgbClr val="171D27"/>
          </a:solidFill>
          <a:ln w="12700">
            <a:solidFill>
              <a:srgbClr val="323C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7036" y="1792224"/>
            <a:ext cx="496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另一份協定 benchmark 研究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475324" y="2139696"/>
            <a:ext cx="49482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抬高床頭被寫進協定的比例，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遠低於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氧氣／通氣與血壓目標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腦疝處置與再評估頻率是最大缺口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3657600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1D2028"/>
          </a:solidFill>
          <a:ln w="12700">
            <a:solidFill>
              <a:srgbClr val="4A43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767328"/>
            <a:ext cx="1061892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ACS Best Practices 談後送時只寫：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避免低血壓、缺氧、高碳酸、低體溫，並快速送到最高等級創傷中心 —— 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沒有指定床頭角度。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475488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來源：</a:t>
            </a:r>
            <a:pPr indent="0" marL="0">
              <a:lnSpc>
                <a:spcPct val="115000"/>
              </a:lnSpc>
              <a:buNone/>
            </a:pPr>
            <a:r>
              <a:rPr lang="en-US" sz="1050" u="sng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 J Emerg Med 2024 州級協定回顧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·　</a:t>
            </a:r>
            <a:pPr indent="0" marL="0">
              <a:lnSpc>
                <a:spcPct val="115000"/>
              </a:lnSpc>
              <a:buNone/>
            </a:pPr>
            <a:r>
              <a:rPr lang="en-US" sz="1050" u="sng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Injury 2021：EMS 協定標準化呼籲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·　</a:t>
            </a:r>
            <a:pPr indent="0" marL="0">
              <a:lnSpc>
                <a:spcPct val="115000"/>
              </a:lnSpc>
              <a:buNone/>
            </a:pPr>
            <a:r>
              <a:rPr lang="en-US" sz="1050" u="sng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ACS Best Practices in TBI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成人 · 過度換氣 1/4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吹太快與吹太慢都增加死亡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這是本課證據最硬的一段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6325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研究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發現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Davis（2005）、Caulfield（2009）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院前過度換氣、到院 PaCO2 偏低 → 死亡率上升、GOS 較差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Dumont（2010）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過度換氣與換氣不足「兩端」都獨立增加死亡風險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院前 RSI 觀察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接受院前 RSI 者 15% 到院 PaCO2 &lt; 25 mmHg（未插管對照組 8%）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LITES Network（2024）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院前 EtCO2 &lt; 35 與缺氧、低血壓並列為可修正的有害事件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 Care 2025 meta（約 42,000 人）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缺氧 aOR 1.39；低碳酸 aOR 1.64；高碳酸 aOR 1.74（95% CI 0.91–3.32，未達顯著）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4517136"/>
            <a:ext cx="1105783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Davis／Caulfield／Dumont 三篇為 </a:t>
            </a:r>
            <a:pPr indent="0" marL="0">
              <a:lnSpc>
                <a:spcPct val="115000"/>
              </a:lnSpc>
              <a:buNone/>
            </a:pPr>
            <a:r>
              <a:rPr lang="en-US" sz="1050" u="sng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BTF 院前指引 3rd ed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所引用之依據研究。其餘見 </a:t>
            </a:r>
            <a:pPr indent="0" marL="0">
              <a:lnSpc>
                <a:spcPct val="115000"/>
              </a:lnSpc>
              <a:buNone/>
            </a:pPr>
            <a:r>
              <a:rPr lang="en-US" sz="1050" u="sng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JAMA Netw Open 2024（LITES）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pPr indent="0" marL="0">
              <a:lnSpc>
                <a:spcPct val="115000"/>
              </a:lnSpc>
              <a:buNone/>
            </a:pPr>
            <a:r>
              <a:rPr lang="en-US" sz="1050" u="sng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Crit Care 2025 meta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5175504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2B2113"/>
          </a:solidFill>
          <a:ln w="12700">
            <a:solidFill>
              <a:srgbClr val="6B522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5330952"/>
            <a:ext cx="566928" cy="274320"/>
          </a:xfrm>
          <a:prstGeom prst="roundRect">
            <a:avLst>
              <a:gd name="adj" fmla="val 46667"/>
            </a:avLst>
          </a:prstGeom>
          <a:solidFill>
            <a:srgbClr val="F0A836"/>
          </a:solidFill>
          <a:ln w="12700">
            <a:solidFill>
              <a:srgbClr val="F0A83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5330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比喻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408176" y="5294376"/>
            <a:ext cx="10015423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院前 RSI 那個 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0A8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vs 8%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說明的不是知識不足，是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0A8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手會抖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插管後緊張，一分鐘就多捏了十下。所以速率必須「設定」，不能「即興」。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成人 · 過度換氣 2/4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PaCO2 是 U 型曲線，最低點在 40 附近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不是「越低越安全」，也不是「隨便就好」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2764460" cy="566928"/>
          </a:xfrm>
          <a:prstGeom prst="rect">
            <a:avLst/>
          </a:prstGeom>
          <a:solidFill>
            <a:srgbClr val="3A1D22"/>
          </a:solidFill>
          <a:ln w="9525">
            <a:solidFill>
              <a:srgbClr val="323C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645920"/>
            <a:ext cx="27644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30　救援專用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1388" y="1645920"/>
            <a:ext cx="1382230" cy="566928"/>
          </a:xfrm>
          <a:prstGeom prst="rect">
            <a:avLst/>
          </a:prstGeom>
          <a:solidFill>
            <a:srgbClr val="4A3A18"/>
          </a:solidFill>
          <a:ln w="9525">
            <a:solidFill>
              <a:srgbClr val="323C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1388" y="1645920"/>
            <a:ext cx="13822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8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30–35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13618" y="1645920"/>
            <a:ext cx="2764460" cy="566928"/>
          </a:xfrm>
          <a:prstGeom prst="rect">
            <a:avLst/>
          </a:prstGeom>
          <a:solidFill>
            <a:srgbClr val="12403C"/>
          </a:solidFill>
          <a:ln w="9525">
            <a:solidFill>
              <a:srgbClr val="323C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3618" y="1645920"/>
            <a:ext cx="27644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C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35–45　目標區（瞄 40）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78078" y="1645920"/>
            <a:ext cx="1382230" cy="566928"/>
          </a:xfrm>
          <a:prstGeom prst="rect">
            <a:avLst/>
          </a:prstGeom>
          <a:solidFill>
            <a:srgbClr val="212A38"/>
          </a:solidFill>
          <a:ln w="9525">
            <a:solidFill>
              <a:srgbClr val="323C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0307" y="1645920"/>
            <a:ext cx="2764460" cy="566928"/>
          </a:xfrm>
          <a:prstGeom prst="rect">
            <a:avLst/>
          </a:prstGeom>
          <a:solidFill>
            <a:srgbClr val="3A1D22"/>
          </a:solidFill>
          <a:ln w="9525">
            <a:solidFill>
              <a:srgbClr val="323C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0307" y="1645920"/>
            <a:ext cx="27644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50　過度堆積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22311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57068" y="22311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21528" y="22311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85987" y="22311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076127" y="22311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246888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橫軸為 PaCO2（mmHg）線性刻度 20–60；整條帶為示意圖，區間依下列文獻繪製。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2834640"/>
            <a:ext cx="5368900" cy="1371600"/>
          </a:xfrm>
          <a:prstGeom prst="roundRect">
            <a:avLst>
              <a:gd name="adj" fmla="val 6000"/>
            </a:avLst>
          </a:prstGeom>
          <a:solidFill>
            <a:srgbClr val="12262A"/>
          </a:solidFill>
          <a:ln w="12700">
            <a:solidFill>
              <a:srgbClr val="2360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2980944"/>
            <a:ext cx="496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MIMIC-III／IV 顱腦損傷分析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86384" y="3328416"/>
            <a:ext cx="49482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院內死亡率最低點：PaCO2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39.5 mmHg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整體風險最低區間：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35–45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55868" y="2834640"/>
            <a:ext cx="5368900" cy="1371600"/>
          </a:xfrm>
          <a:prstGeom prst="roundRect">
            <a:avLst>
              <a:gd name="adj" fmla="val 6000"/>
            </a:avLst>
          </a:prstGeom>
          <a:solidFill>
            <a:srgbClr val="2A1519"/>
          </a:solidFill>
          <a:ln w="12700">
            <a:solidFill>
              <a:srgbClr val="6E2A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57036" y="2980944"/>
            <a:ext cx="496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兩端都是壞事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475324" y="3328416"/>
            <a:ext cx="49482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吹太快 → 腦血管收縮、腦缺血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吹太慢 → 腦血管擴張、ICP 上升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6928" y="4389120"/>
            <a:ext cx="11057839" cy="731520"/>
          </a:xfrm>
          <a:prstGeom prst="roundRect">
            <a:avLst>
              <a:gd name="adj" fmla="val 10000"/>
            </a:avLst>
          </a:prstGeom>
          <a:solidFill>
            <a:srgbClr val="2B2113"/>
          </a:solidFill>
          <a:ln w="12700">
            <a:solidFill>
              <a:srgbClr val="6B52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4544568"/>
            <a:ext cx="566928" cy="274320"/>
          </a:xfrm>
          <a:prstGeom prst="roundRect">
            <a:avLst>
              <a:gd name="adj" fmla="val 46667"/>
            </a:avLst>
          </a:prstGeom>
          <a:solidFill>
            <a:srgbClr val="F0A836"/>
          </a:solidFill>
          <a:ln w="12700">
            <a:solidFill>
              <a:srgbClr val="F0A8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5445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比喻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408176" y="4507992"/>
            <a:ext cx="1001542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像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0A8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烤箱溫度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：太低麵包不熟、太高直接焦掉。沒有「保險起見調低一點」這種選項。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66928" y="526694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來源：</a:t>
            </a:r>
            <a:pPr indent="0" marL="0">
              <a:lnSpc>
                <a:spcPct val="115000"/>
              </a:lnSpc>
              <a:buNone/>
            </a:pPr>
            <a:r>
              <a:rPr lang="en-US" sz="1050" u="sng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Neurocrit Care：first 24-h PaCO2 最佳目標（MIMIC-III/IV）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成人 · 過度換氣 3/4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 研究：把指引真的做下去會怎樣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全州前後對照，2007–2015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5368900" cy="1920240"/>
          </a:xfrm>
          <a:prstGeom prst="roundRect">
            <a:avLst>
              <a:gd name="adj" fmla="val 4286"/>
            </a:avLst>
          </a:prstGeom>
          <a:solidFill>
            <a:srgbClr val="171D27"/>
          </a:solidFill>
          <a:ln w="12700">
            <a:solidFill>
              <a:srgbClr val="323C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792224"/>
            <a:ext cx="496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介入是一個「套餐」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86384" y="2139696"/>
            <a:ext cx="49482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避免過度換氣：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設定速率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兩指捏球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、連續 EtCO2 目標 40（35–45）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避免缺氧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積極治療低血壓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5868" y="1645920"/>
            <a:ext cx="5368900" cy="1920240"/>
          </a:xfrm>
          <a:prstGeom prst="roundRect">
            <a:avLst>
              <a:gd name="adj" fmla="val 4286"/>
            </a:avLst>
          </a:prstGeom>
          <a:solidFill>
            <a:srgbClr val="12262A"/>
          </a:solidFill>
          <a:ln w="12700">
            <a:solidFill>
              <a:srgbClr val="2360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7036" y="1792224"/>
            <a:ext cx="496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結果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475324" y="2139696"/>
            <a:ext cx="49482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存活出院改善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效果集中在「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重度但還沒到 critical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」且接受正壓通氣／插管者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最重傷的族群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反而變差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下一頁看原圖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3749040"/>
            <a:ext cx="11057839" cy="914400"/>
          </a:xfrm>
          <a:prstGeom prst="roundRect">
            <a:avLst>
              <a:gd name="adj" fmla="val 8000"/>
            </a:avLst>
          </a:prstGeom>
          <a:solidFill>
            <a:srgbClr val="2B2113"/>
          </a:solidFill>
          <a:ln w="12700">
            <a:solidFill>
              <a:srgbClr val="6B52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904488"/>
            <a:ext cx="566928" cy="274320"/>
          </a:xfrm>
          <a:prstGeom prst="roundRect">
            <a:avLst>
              <a:gd name="adj" fmla="val 46667"/>
            </a:avLst>
          </a:prstGeom>
          <a:solidFill>
            <a:srgbClr val="F0A836"/>
          </a:solidFill>
          <a:ln w="12700">
            <a:solidFill>
              <a:srgbClr val="F0A8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90448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比喻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408176" y="3867912"/>
            <a:ext cx="1001542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指引像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0A8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雨傘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：太陽天用不到（輕傷本來就會好），颱風天撐不住（critical 怎麼做都難救），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0A8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中到大雨最有用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。這叫「依嚴重度的機會之窗」。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484632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來源：</a:t>
            </a:r>
            <a:pPr indent="0" marL="0">
              <a:lnSpc>
                <a:spcPct val="115000"/>
              </a:lnSpc>
              <a:buNone/>
            </a:pPr>
            <a:r>
              <a:rPr lang="en-US" sz="1050" u="sng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Spaite DW, et al. JAMA Surgery 2019（EPIC）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成人 · 過度換氣 4/4 · 原圖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 原始 Figure 3：獲益完全取決於嚴重度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46608" y="1243584"/>
            <a:ext cx="10698480" cy="329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fig/epic_jamasurg_fig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335024"/>
            <a:ext cx="10515600" cy="31121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4739776"/>
            <a:ext cx="11057839" cy="1115568"/>
          </a:xfrm>
          <a:prstGeom prst="roundRect">
            <a:avLst>
              <a:gd name="adj" fmla="val 5738"/>
            </a:avLst>
          </a:prstGeom>
          <a:solidFill>
            <a:srgbClr val="1D2028"/>
          </a:solidFill>
          <a:ln w="12700">
            <a:solidFill>
              <a:srgbClr val="4A433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4849504"/>
            <a:ext cx="1061892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怎麼讀：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接受正壓通氣（PPV）者，頭傷嚴重度 3–4 存活出院 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aOR 3.52（1.96–6.34）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；但嚴重度 5–6 是 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aOR 0.72（0.58–0.88）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最重的那群反而更差。插管（ETI）呈現同樣的方向（3.14 vs 0.67）。這是「機會之窗」最直接的證據，也提醒我們：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同一個做法在不同嚴重度不是同一件事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" y="598336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Spaite DW, et al. </a:t>
            </a:r>
            <a:pPr indent="0" marL="0">
              <a:lnSpc>
                <a:spcPct val="115000"/>
              </a:lnSpc>
              <a:buNone/>
            </a:pPr>
            <a:r>
              <a:rPr lang="en-US" sz="1050" u="sng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JAMA Surg. 2019;154(7):e191152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Figure 3. © American Medical Association．為院內教學討論引用。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成人 · 目標值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三層目標，記「一個常規、兩個例外」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BTF 院前指引 3rd ed 原文用的是 EtCO2，不是 PaCO2 —— 對現場更友善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394960"/>
                <a:gridCol w="2825496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情境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來源與強度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常規（無腦疝徵象）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連續 capnography 維持 EtCO2 35–45；策略上求 eucapnia、避免 hypocapnia（EtCO2 35–40）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BTF 院前 3rd ed｜Strong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例外一：腦疝／急性惡化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過度換氣目標 EtCO2 30–35，以 capnography 導引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BTF 院前 3rd ed｜Strong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例外二：院內 refractory 顱內高壓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輕度 PaCO2 32–35（SIBICC Tier 2）；&lt;30 僅作 rescue，時間越短越好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ACS / SIBICC｜共識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一般 ICU 通氣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PaCO2 35–40、pH 7.35–7.45、SpO2 ≥94%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ACS Best Practices｜共識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4151376"/>
            <a:ext cx="11057839" cy="1133856"/>
          </a:xfrm>
          <a:prstGeom prst="roundRect">
            <a:avLst>
              <a:gd name="adj" fmla="val 7258"/>
            </a:avLst>
          </a:prstGeom>
          <a:solidFill>
            <a:srgbClr val="2A1519"/>
          </a:solidFill>
          <a:ln w="12700">
            <a:solidFill>
              <a:srgbClr val="6E2A3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4297680"/>
            <a:ext cx="106555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BTF 3rd ed 列的腦疝／惡化徵象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86384" y="4626864"/>
            <a:ext cx="1061892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Cushing triad（高血壓＋心跳慢＋呼吸型態異常）· 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瞳孔固定放大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姿勢異常（posturing）· 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&lt; 9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持續惡化。指引也明講：這些徵象的預測力只是中到低，但在這個族群風險效益關係反轉。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" y="543153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來源：</a:t>
            </a:r>
            <a:pPr indent="0" marL="0">
              <a:lnSpc>
                <a:spcPct val="115000"/>
              </a:lnSpc>
              <a:buNone/>
            </a:pPr>
            <a:r>
              <a:rPr lang="en-US" sz="1050" u="sng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BTF 院前指引 3rd ed（Prehosp Emerg Care 2023）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·　</a:t>
            </a:r>
            <a:pPr indent="0" marL="0">
              <a:lnSpc>
                <a:spcPct val="115000"/>
              </a:lnSpc>
              <a:buNone/>
            </a:pPr>
            <a:r>
              <a:rPr lang="en-US" sz="1050" u="sng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Executive Summary（Neurosurgery 2023）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成人 · ETCO2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指引強力推薦 —— 但指引自己說它不夠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這句話一定要念給學員聽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2004" cy="777240"/>
          </a:xfrm>
          <a:prstGeom prst="rect">
            <a:avLst/>
          </a:prstGeom>
          <a:solidFill>
            <a:srgbClr val="E2404C"/>
          </a:solidFill>
          <a:ln w="12700">
            <a:solidFill>
              <a:srgbClr val="E240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645920"/>
            <a:ext cx="108383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Capnography </a:t>
            </a:r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不保證</a:t>
            </a:r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能避免無意識的過度換氣 —— 因為 EtCO2 與 PaCO2 有落差，加上院前操作的現實困難。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606040"/>
            <a:ext cx="5368900" cy="1600200"/>
          </a:xfrm>
          <a:prstGeom prst="roundRect">
            <a:avLst>
              <a:gd name="adj" fmla="val 5143"/>
            </a:avLst>
          </a:prstGeom>
          <a:solidFill>
            <a:srgbClr val="12262A"/>
          </a:solidFill>
          <a:ln w="12700">
            <a:solidFill>
              <a:srgbClr val="2360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752344"/>
            <a:ext cx="496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所以要配套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86384" y="3099816"/>
            <a:ext cx="49482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先設定速率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，再用 EtCO2 確認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紀律性捏球（兩指、小容量）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不能只盯數字、不管手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5868" y="2606040"/>
            <a:ext cx="5368900" cy="1600200"/>
          </a:xfrm>
          <a:prstGeom prst="roundRect">
            <a:avLst>
              <a:gd name="adj" fmla="val 5143"/>
            </a:avLst>
          </a:prstGeom>
          <a:solidFill>
            <a:srgbClr val="2A1519"/>
          </a:solidFill>
          <a:ln w="12700">
            <a:solidFill>
              <a:srgbClr val="6E2A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7036" y="2752344"/>
            <a:ext cx="496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落差本身就是壞消息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475324" y="3090672"/>
            <a:ext cx="49299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成人回溯研究：EtCO2–PaCO2 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每增加 1 kPa（≈7.5 mmHg），死亡率 2.7 倍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，且 EtCO2 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系統性低估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PaCO2。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389120"/>
            <a:ext cx="11057839" cy="804672"/>
          </a:xfrm>
          <a:prstGeom prst="roundRect">
            <a:avLst>
              <a:gd name="adj" fmla="val 9091"/>
            </a:avLst>
          </a:prstGeom>
          <a:solidFill>
            <a:srgbClr val="2B2113"/>
          </a:solidFill>
          <a:ln w="12700">
            <a:solidFill>
              <a:srgbClr val="6B52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4544568"/>
            <a:ext cx="566928" cy="274320"/>
          </a:xfrm>
          <a:prstGeom prst="roundRect">
            <a:avLst>
              <a:gd name="adj" fmla="val 46667"/>
            </a:avLst>
          </a:prstGeom>
          <a:solidFill>
            <a:srgbClr val="F0A836"/>
          </a:solidFill>
          <a:ln w="12700">
            <a:solidFill>
              <a:srgbClr val="F0A8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5445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比喻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408176" y="4507992"/>
            <a:ext cx="100154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EtCO2 像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0A8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裝在門口的溫度計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量整棟房子：走廊（死腔）越長，讀數離房內真實溫度越遠。肺一有問題，走廊就變長。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534009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來源：</a:t>
            </a:r>
            <a:pPr indent="0" marL="0">
              <a:lnSpc>
                <a:spcPct val="115000"/>
              </a:lnSpc>
              <a:buNone/>
            </a:pPr>
            <a:r>
              <a:rPr lang="en-US" sz="1050" u="sng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BTF 院前指引 3rd ed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·　</a:t>
            </a:r>
            <a:pPr indent="0" marL="0">
              <a:lnSpc>
                <a:spcPct val="115000"/>
              </a:lnSpc>
              <a:buNone/>
            </a:pPr>
            <a:r>
              <a:rPr lang="en-US" sz="1050" u="sng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 Rep：EtCO2–PaCO2 gradient 與死亡率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 · 全貌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小兒的證據，三句話講完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 BTF 小兒重度 TBI 指引 3rd ed 的實際內容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472586" cy="2148840"/>
          </a:xfrm>
          <a:prstGeom prst="roundRect">
            <a:avLst>
              <a:gd name="adj" fmla="val 3830"/>
            </a:avLst>
          </a:prstGeom>
          <a:solidFill>
            <a:srgbClr val="2A1519"/>
          </a:solidFill>
          <a:ln w="12700">
            <a:solidFill>
              <a:srgbClr val="6E2A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792224"/>
            <a:ext cx="30702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抬高床頭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" y="2029968"/>
            <a:ext cx="3070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沒有建議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68096" y="2377440"/>
            <a:ext cx="307025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指引沒有任何分級建議，連 Level III 都沒有。屬「良好臨床實務／生理合理性」層級。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59554" y="1645920"/>
            <a:ext cx="3472586" cy="2148840"/>
          </a:xfrm>
          <a:prstGeom prst="roundRect">
            <a:avLst>
              <a:gd name="adj" fmla="val 3830"/>
            </a:avLst>
          </a:prstGeom>
          <a:solidFill>
            <a:srgbClr val="2B2113"/>
          </a:solidFill>
          <a:ln w="12700">
            <a:solidFill>
              <a:srgbClr val="6B52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0722" y="1792224"/>
            <a:ext cx="30702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過度換氣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60722" y="2029968"/>
            <a:ext cx="3070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III（weak）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560722" y="2377440"/>
            <a:ext cx="307025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受傷後 48 小時內不建議預防性重度過度換氣至 PaCO2 &lt; 30；若為 refractory 顱內高壓而使用，建議加上腦缺血的進階監測。這是指引中唯一一條關於通氣的建議。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52181" y="1645920"/>
            <a:ext cx="3472586" cy="2148840"/>
          </a:xfrm>
          <a:prstGeom prst="roundRect">
            <a:avLst>
              <a:gd name="adj" fmla="val 3830"/>
            </a:avLst>
          </a:prstGeom>
          <a:solidFill>
            <a:srgbClr val="171D27"/>
          </a:solidFill>
          <a:ln w="12700">
            <a:solidFill>
              <a:srgbClr val="323C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3349" y="1792224"/>
            <a:ext cx="30702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ETCO2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53349" y="2029968"/>
            <a:ext cx="3070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不表態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353349" y="2377440"/>
            <a:ext cx="307025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因資料不足，不對「EtCO2 可否取代 PaCO2」做出任何建議（for or against 都沒有）。TQIP 亦同。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977640"/>
            <a:ext cx="11057839" cy="960120"/>
          </a:xfrm>
          <a:prstGeom prst="roundRect">
            <a:avLst>
              <a:gd name="adj" fmla="val 6667"/>
            </a:avLst>
          </a:prstGeom>
          <a:solidFill>
            <a:srgbClr val="1D2028"/>
          </a:solidFill>
          <a:ln w="12700">
            <a:solidFill>
              <a:srgbClr val="4A43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4087368"/>
            <a:ext cx="10618927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教學上的意義：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小兒這三件事幾乎都是從成人外推來的。這不代表不要做 —— 代表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講的時候要說出「這是外推」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，並且把力氣放在成人證據硬的那一項（別吹快）。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512064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來源：</a:t>
            </a:r>
            <a:pPr indent="0" marL="0">
              <a:lnSpc>
                <a:spcPct val="115000"/>
              </a:lnSpc>
              <a:buNone/>
            </a:pPr>
            <a:r>
              <a:rPr lang="en-US" sz="1050" u="sng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Kochanek PM, et al. Pediatr Crit Care Med. 2019;20(3S):S1-S82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 · 生理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為什麼小孩更不該吹快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指引引用的兒童生理研究，方向很一致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5368900" cy="2103120"/>
          </a:xfrm>
          <a:prstGeom prst="roundRect">
            <a:avLst>
              <a:gd name="adj" fmla="val 3913"/>
            </a:avLst>
          </a:prstGeom>
          <a:solidFill>
            <a:srgbClr val="12262A"/>
          </a:solidFill>
          <a:ln w="12700">
            <a:solidFill>
              <a:srgbClr val="2360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792224"/>
            <a:ext cx="496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兒童 TBI 的三個事實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86384" y="2139696"/>
            <a:ext cx="49482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Hyperemia（腦血流過多）不常見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「用吹快壓 hyperemia」的理由不成立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與較差預後相關的是</a:t>
            </a:r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腦血流過低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，不是過高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低碳酸會降低 </a:t>
            </a:r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CSF buffering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，日後 ICP 波動更難擋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55868" y="1645920"/>
            <a:ext cx="5368900" cy="2103120"/>
          </a:xfrm>
          <a:prstGeom prst="roundRect">
            <a:avLst>
              <a:gd name="adj" fmla="val 3913"/>
            </a:avLst>
          </a:prstGeom>
          <a:solidFill>
            <a:srgbClr val="2A1519"/>
          </a:solidFill>
          <a:ln w="12700">
            <a:solidFill>
              <a:srgbClr val="6E2A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7036" y="1792224"/>
            <a:ext cx="496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475324" y="2212848"/>
            <a:ext cx="49299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指引因此把目標訂在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正常 PaCO2 35–45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，而不是某個 EtCO2 數字。
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注意措辭差異：小兒指引講 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PaCO2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，院前指引講 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EtCO2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因為它不願意保證兩者可以互換（見下一頁 Bland-Altman 原圖）。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931920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2B2113"/>
          </a:solidFill>
          <a:ln w="12700">
            <a:solidFill>
              <a:srgbClr val="6B52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4087368"/>
            <a:ext cx="566928" cy="274320"/>
          </a:xfrm>
          <a:prstGeom prst="roundRect">
            <a:avLst>
              <a:gd name="adj" fmla="val 46667"/>
            </a:avLst>
          </a:prstGeom>
          <a:solidFill>
            <a:srgbClr val="F0A836"/>
          </a:solidFill>
          <a:ln w="12700">
            <a:solidFill>
              <a:srgbClr val="F0A8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873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比喻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408176" y="4050792"/>
            <a:ext cx="10015423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CSF buffering 像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0A8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活期存款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：低碳酸把它花掉了。平常看不出差別，等下一次 ICP 帳單來（搬動、抽痰、躁動），才發現沒錢付。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 · EPIC4KIDS 1/2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最直接的小兒院前證據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 的預先計畫小兒次分析：2,801 名 &lt;18 歲（前 2,041／後 760）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840480"/>
                <a:gridCol w="2743200"/>
                <a:gridCol w="2368296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結果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族群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aOR（95% CI）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判讀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存活出院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全體（中度＋重度＋critical）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1.16（0.70–1.92）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未改善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存活到住院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2.41（1.17–5.21）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顯著改善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存活出院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重度（RSS-Head 3–4）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8.42（1.01 – &gt;100）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顯著，但 CI 極寬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存活出院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重度且接受正壓通氣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9.13（0.79 – &gt;100）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方向一致，未達顯著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存活出院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中度、critical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無顯著效益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4187952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RSS-Head＝Regional Severity Score-Head。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4498848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1D2028"/>
          </a:solidFill>
          <a:ln w="12700">
            <a:solidFill>
              <a:srgbClr val="4A433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4608576"/>
            <a:ext cx="1061892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誠實地讀這張表：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8.42 這個數字很漂亮，但信賴區間下界貼在 1.01、上界破百 —— 意思是「方向大概是好的，幅度完全不知道」。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不要在教材上寫成「存活率提高 8 倍」。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" y="5559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來源：</a:t>
            </a:r>
            <a:pPr indent="0" marL="0">
              <a:lnSpc>
                <a:spcPct val="115000"/>
              </a:lnSpc>
              <a:buNone/>
            </a:pPr>
            <a:r>
              <a:rPr lang="en-US" sz="1050" u="sng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EPIC4Kids, Ann Emerg Med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 · EPIC4KIDS 2/2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作者的結論：存在「依嚴重度的機會之窗」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和成人 EPIC 的 Figure 3 是同一個故事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472586" cy="1600200"/>
          </a:xfrm>
          <a:prstGeom prst="roundRect">
            <a:avLst>
              <a:gd name="adj" fmla="val 5143"/>
            </a:avLst>
          </a:prstGeom>
          <a:solidFill>
            <a:srgbClr val="171D27"/>
          </a:solidFill>
          <a:ln w="12700">
            <a:solidFill>
              <a:srgbClr val="323C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792224"/>
            <a:ext cx="30702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中度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" y="2029968"/>
            <a:ext cx="3070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看不到效益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68096" y="2377440"/>
            <a:ext cx="307025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本來大多會好，天花板效應。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59554" y="1645920"/>
            <a:ext cx="3472586" cy="1600200"/>
          </a:xfrm>
          <a:prstGeom prst="roundRect">
            <a:avLst>
              <a:gd name="adj" fmla="val 5143"/>
            </a:avLst>
          </a:prstGeom>
          <a:solidFill>
            <a:srgbClr val="12262A"/>
          </a:solidFill>
          <a:ln w="12700">
            <a:solidFill>
              <a:srgbClr val="2360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0722" y="1792224"/>
            <a:ext cx="30702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重度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60722" y="2029968"/>
            <a:ext cx="3070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這裡有救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560722" y="2377440"/>
            <a:ext cx="307025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避免缺氧／低血壓／吹快，最可能改變結局的族群。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52181" y="1645920"/>
            <a:ext cx="3472586" cy="1600200"/>
          </a:xfrm>
          <a:prstGeom prst="roundRect">
            <a:avLst>
              <a:gd name="adj" fmla="val 5143"/>
            </a:avLst>
          </a:prstGeom>
          <a:solidFill>
            <a:srgbClr val="2A1519"/>
          </a:solidFill>
          <a:ln w="12700">
            <a:solidFill>
              <a:srgbClr val="6E2A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3349" y="1792224"/>
            <a:ext cx="30702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53349" y="2029968"/>
            <a:ext cx="3070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看不到效益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353349" y="2377440"/>
            <a:ext cx="307025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傷害已經定型，院前做什麼都難翻盤。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429000"/>
            <a:ext cx="11057839" cy="914400"/>
          </a:xfrm>
          <a:prstGeom prst="roundRect">
            <a:avLst>
              <a:gd name="adj" fmla="val 8000"/>
            </a:avLst>
          </a:prstGeom>
          <a:solidFill>
            <a:srgbClr val="2B2113"/>
          </a:solidFill>
          <a:ln w="12700">
            <a:solidFill>
              <a:srgbClr val="6B52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584448"/>
            <a:ext cx="566928" cy="274320"/>
          </a:xfrm>
          <a:prstGeom prst="roundRect">
            <a:avLst>
              <a:gd name="adj" fmla="val 46667"/>
            </a:avLst>
          </a:prstGeom>
          <a:solidFill>
            <a:srgbClr val="F0A836"/>
          </a:solidFill>
          <a:ln w="12700">
            <a:solidFill>
              <a:srgbClr val="F0A8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58444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比喻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408176" y="3547872"/>
            <a:ext cx="1001542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再說一次那把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0A8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傘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：晴天不用、颱風沒用、中到大雨最有價值。教學上要讓學員相信「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0A8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看起來很嚴重但還有機會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」的那個孩子，就是他們最該把基本功做好的人。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4526280"/>
            <a:ext cx="11057839" cy="777240"/>
          </a:xfrm>
          <a:prstGeom prst="roundRect">
            <a:avLst>
              <a:gd name="adj" fmla="val 8235"/>
            </a:avLst>
          </a:prstGeom>
          <a:solidFill>
            <a:srgbClr val="1D2028"/>
          </a:solidFill>
          <a:ln w="12700">
            <a:solidFill>
              <a:srgbClr val="4A43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4636008"/>
            <a:ext cx="1061892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作者結論原意：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此型態支持繼續廣泛推行小兒院前 TBI 指引 —— 不是「指引沒用」。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 · ETCO2 落差 · 原圖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 EtCO2 有多不可信：肺好的時候還行，肺壞了就報廢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706728" y="1243584"/>
            <a:ext cx="8778240" cy="35874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fig/etco2_gap_A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8168" y="1335024"/>
            <a:ext cx="8595360" cy="340454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4959021"/>
            <a:ext cx="11057839" cy="987552"/>
          </a:xfrm>
          <a:prstGeom prst="roundRect">
            <a:avLst>
              <a:gd name="adj" fmla="val 6481"/>
            </a:avLst>
          </a:prstGeom>
          <a:solidFill>
            <a:srgbClr val="1D2028"/>
          </a:solidFill>
          <a:ln w="12700">
            <a:solidFill>
              <a:srgbClr val="4A433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5068749"/>
            <a:ext cx="1061892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怎麼讀：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縱軸是 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PaCO2 − EtCO2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；藍線是平均偏差，橘線是事先設定「可接受」的 0–5 mmHg 帶，深色線是一致性界限。左圖（全部病人）平均高 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 mmHg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，但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不到一半的配對落在可接受帶內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；右圖（24 小時內發生 PARDS）平均高 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 10 mmHg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，散布明顯更寬 —— 死腔變大、V/Q 不匹配。受傷後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最初 8 小時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一致性也較差。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66928" y="6038013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JT, et al. </a:t>
            </a:r>
            <a:pPr indent="0" marL="0">
              <a:lnSpc>
                <a:spcPct val="115000"/>
              </a:lnSpc>
              <a:buNone/>
            </a:pPr>
            <a:r>
              <a:rPr lang="en-US" sz="1050" u="sng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JAMA Netw Open. 2019;2(8):e199448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Figure 1 之 panel A 與 C（並列裁切）。© American Medical Association．為院內教學討論引用。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 · ETCO2 怎麼教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教「它會怎麼騙你」比教數字有用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三個紅旗：這時候螢幕上的數字比真實值低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472586" cy="1371600"/>
          </a:xfrm>
          <a:prstGeom prst="roundRect">
            <a:avLst>
              <a:gd name="adj" fmla="val 6000"/>
            </a:avLst>
          </a:prstGeom>
          <a:solidFill>
            <a:srgbClr val="2A1519"/>
          </a:solidFill>
          <a:ln w="12700">
            <a:solidFill>
              <a:srgbClr val="6E2A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792224"/>
            <a:ext cx="3070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灌流差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68096" y="2139696"/>
            <a:ext cx="307025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低血壓、休克、CPR 中 —— 肺送不到血，吐不出 CO2。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59554" y="1645920"/>
            <a:ext cx="3472586" cy="1371600"/>
          </a:xfrm>
          <a:prstGeom prst="roundRect">
            <a:avLst>
              <a:gd name="adj" fmla="val 6000"/>
            </a:avLst>
          </a:prstGeom>
          <a:solidFill>
            <a:srgbClr val="2A1519"/>
          </a:solidFill>
          <a:ln w="12700">
            <a:solidFill>
              <a:srgbClr val="6E2A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0722" y="1792224"/>
            <a:ext cx="3070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肺有問題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560722" y="2139696"/>
            <a:ext cx="307025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溺水、氣喘、肺挫傷、PARDS —— 死腔變大，差距可達 10 mmHg。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52181" y="1645920"/>
            <a:ext cx="3472586" cy="1371600"/>
          </a:xfrm>
          <a:prstGeom prst="roundRect">
            <a:avLst>
              <a:gd name="adj" fmla="val 6000"/>
            </a:avLst>
          </a:prstGeom>
          <a:solidFill>
            <a:srgbClr val="2A1519"/>
          </a:solidFill>
          <a:ln w="12700">
            <a:solidFill>
              <a:srgbClr val="6E2A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3349" y="1792224"/>
            <a:ext cx="3070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受傷／插管最初數小時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353349" y="2139696"/>
            <a:ext cx="307025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最初 8 小時一致性最差。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200400"/>
            <a:ext cx="11057839" cy="1170432"/>
          </a:xfrm>
          <a:prstGeom prst="roundRect">
            <a:avLst>
              <a:gd name="adj" fmla="val 7031"/>
            </a:avLst>
          </a:prstGeom>
          <a:solidFill>
            <a:srgbClr val="2B2113"/>
          </a:solidFill>
          <a:ln w="12700">
            <a:solidFill>
              <a:srgbClr val="6B52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346704"/>
            <a:ext cx="106555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所以現場的規則只有一句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86384" y="3675888"/>
            <a:ext cx="1061892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螢幕 40，真實可能是 45–50。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因此：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絕不因為螢幕數字偏低就再吹快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先問「是不是我吹太快」，再問「是不是血壓掉了」，最後才想儀器。先確認有正常方形波，再讀值。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4553712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2B2113"/>
          </a:solidFill>
          <a:ln w="12700">
            <a:solidFill>
              <a:srgbClr val="6B52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709160"/>
            <a:ext cx="566928" cy="274320"/>
          </a:xfrm>
          <a:prstGeom prst="roundRect">
            <a:avLst>
              <a:gd name="adj" fmla="val 46667"/>
            </a:avLst>
          </a:prstGeom>
          <a:solidFill>
            <a:srgbClr val="F0A836"/>
          </a:solidFill>
          <a:ln w="12700">
            <a:solidFill>
              <a:srgbClr val="F0A8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7091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比喻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408176" y="4672584"/>
            <a:ext cx="1001542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看到體重計數字下降就以為變健康 —— 其實是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0A8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脫水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。EtCO2 掉下來也一樣：可能是通氣「進步」，更可能是灌流變差或你手太快。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 · 年齡別門檻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這一頁的證據比姿勢和通氣都硬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BTF 院前指引 3rd ed 的血壓目標，比傳統「70+2×年齡」高很多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6309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834640"/>
                <a:gridCol w="1371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年齡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收縮壓目標（BTF 3rd ed）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強度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28 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70 mmHg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1–12 個月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84 mmHg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1–5 歲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90 mmHg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6 歲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100 mmHg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成人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110 mmHg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380390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缺氧：連續量 SpO2、給氧維持 &gt; 90%（Strong）；SpO2 &lt; 90% 即為 hypoxemia（ACS 寫求 ≥94%），建議每 5 分鐘查一次。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196328" y="1645920"/>
            <a:ext cx="4428439" cy="2103120"/>
          </a:xfrm>
          <a:prstGeom prst="roundRect">
            <a:avLst>
              <a:gd name="adj" fmla="val 3913"/>
            </a:avLst>
          </a:prstGeom>
          <a:solidFill>
            <a:srgbClr val="2A1519"/>
          </a:solidFill>
          <a:ln w="12700">
            <a:solidFill>
              <a:srgbClr val="6E2A3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97496" y="1792224"/>
            <a:ext cx="40261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兩套數字並存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415784" y="2194560"/>
            <a:ext cx="398952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研究與多數 SOP 用的低血壓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定義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 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SBP &lt; 70+(2×年齡)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；BTF 院前指引給的是要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維持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，明顯更高。
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教學講法：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「低於 70+2×年齡＝已經出事；但我們要追的是上面那張表。」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" y="4133088"/>
            <a:ext cx="11057839" cy="1005840"/>
          </a:xfrm>
          <a:prstGeom prst="roundRect">
            <a:avLst>
              <a:gd name="adj" fmla="val 6364"/>
            </a:avLst>
          </a:prstGeom>
          <a:solidFill>
            <a:srgbClr val="1D2028"/>
          </a:solidFill>
          <a:ln w="12700">
            <a:solidFill>
              <a:srgbClr val="4A4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" y="4242816"/>
            <a:ext cx="1061892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PEGASUS（Kannan 2018，5 家兒童創傷中心，236 名重度 TBI 兒童）：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早期低血壓發生率 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（60/234），死亡率 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23.3% vs 8.6%（p=0.01）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；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分鐘內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以輸液／血品／升壓劑處理者 92%（55/60），院內死亡 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0.46（0.24–0.90）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、不良出院 GOS 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0.54（0.39–0.76）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6928" y="5248656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來源：</a:t>
            </a:r>
            <a:pPr indent="0" marL="0">
              <a:lnSpc>
                <a:spcPct val="115000"/>
              </a:lnSpc>
              <a:buNone/>
            </a:pPr>
            <a:r>
              <a:rPr lang="en-US" sz="1050" u="sng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BTF 院前指引 3rd ed Executive Summary, Table 1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·　</a:t>
            </a:r>
            <a:pPr indent="0" marL="0">
              <a:lnSpc>
                <a:spcPct val="115000"/>
              </a:lnSpc>
              <a:buNone/>
            </a:pPr>
            <a:r>
              <a:rPr lang="en-US" sz="1050" u="sng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Kannan N, et al. Pediatr Emerg Care. 2018;34(5):325-329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（依 PubMed 檢索核對）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EMT 教學版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口訣：頭抬 30、吹 10 下、盯 40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瞳孔放大才可以吹快，而且只吹到 30–35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5368900" cy="2148840"/>
          </a:xfrm>
          <a:prstGeom prst="roundRect">
            <a:avLst>
              <a:gd name="adj" fmla="val 3830"/>
            </a:avLst>
          </a:prstGeom>
          <a:solidFill>
            <a:srgbClr val="12262A"/>
          </a:solidFill>
          <a:ln w="12700">
            <a:solidFill>
              <a:srgbClr val="2360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929384"/>
            <a:ext cx="496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三個數字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86384" y="2276856"/>
            <a:ext cx="494827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30°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整床／整板抬高（血壓達標才做）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成人約 10 次/分；小孩用年齡正常速率起步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EtCO2 瞄 40，帶寬 35–45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55868" y="1783080"/>
            <a:ext cx="5368900" cy="2148840"/>
          </a:xfrm>
          <a:prstGeom prst="roundRect">
            <a:avLst>
              <a:gd name="adj" fmla="val 3830"/>
            </a:avLst>
          </a:prstGeom>
          <a:solidFill>
            <a:srgbClr val="2A1519"/>
          </a:solidFill>
          <a:ln w="12700">
            <a:solidFill>
              <a:srgbClr val="6E2A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7036" y="1929384"/>
            <a:ext cx="496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一個例外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475324" y="2276856"/>
            <a:ext cx="494827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瞳孔散大固定／姿勢異常／Cushing triad／GCS&lt;9／持續惡化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吹快，目標 </a:t>
            </a:r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EtCO2 30–35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一到院、徵象一改善就</a:t>
            </a:r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回到 40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160520"/>
            <a:ext cx="11057839" cy="960120"/>
          </a:xfrm>
          <a:prstGeom prst="roundRect">
            <a:avLst>
              <a:gd name="adj" fmla="val 6667"/>
            </a:avLst>
          </a:prstGeom>
          <a:solidFill>
            <a:srgbClr val="1D2028"/>
          </a:solidFill>
          <a:ln w="12700">
            <a:solidFill>
              <a:srgbClr val="4A43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4270248"/>
            <a:ext cx="10618927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更順口的版本：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三十、十、四十；瞳孔放大降到三十五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」。速率只是手段，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3EC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EtCO2 才是終點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 1/4 · 通氣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通氣要教「節拍器」，不要教「感覺」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吹過頭的主因不是不懂，是緊張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12262A"/>
          </a:solidFill>
          <a:ln w="12700">
            <a:solidFill>
              <a:srgbClr val="2360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792224"/>
            <a:ext cx="496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三個動作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86384" y="2139696"/>
            <a:ext cx="494827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設定節拍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：手機節拍器／監視器嗶聲／心中數「1-2-3-4-5-6」再擠一次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兩指捏球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，不是滿掌握 —— 成人只需 500–600 mL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看胸廓微起就停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，不追「起得漂亮」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55868" y="164592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2A1519"/>
          </a:solidFill>
          <a:ln w="12700">
            <a:solidFill>
              <a:srgbClr val="6E2A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7036" y="1792224"/>
            <a:ext cx="496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課堂一定要演的錯誤示範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475324" y="2139696"/>
            <a:ext cx="494827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故意憑感覺捏 → EtCO2 掉到 25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當場講：腦血管收縮、腦血流下降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看過一次比聽十次有效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886200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2B2113"/>
          </a:solidFill>
          <a:ln w="12700">
            <a:solidFill>
              <a:srgbClr val="6B52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4041648"/>
            <a:ext cx="566928" cy="274320"/>
          </a:xfrm>
          <a:prstGeom prst="roundRect">
            <a:avLst>
              <a:gd name="adj" fmla="val 46667"/>
            </a:avLst>
          </a:prstGeom>
          <a:solidFill>
            <a:srgbClr val="F0A836"/>
          </a:solidFill>
          <a:ln w="12700">
            <a:solidFill>
              <a:srgbClr val="F0A8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4164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比喻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408176" y="4005072"/>
            <a:ext cx="10015423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唱歌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0A8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沒有伴奏會越唱越快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人在壓力下天生會加速。所以速率要「設定」，不能「即興」。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846320"/>
            <a:ext cx="11057839" cy="658368"/>
          </a:xfrm>
          <a:prstGeom prst="roundRect">
            <a:avLst>
              <a:gd name="adj" fmla="val 9722"/>
            </a:avLst>
          </a:prstGeom>
          <a:solidFill>
            <a:srgbClr val="1D2028"/>
          </a:solidFill>
          <a:ln w="12700">
            <a:solidFill>
              <a:srgbClr val="4A43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4956048"/>
            <a:ext cx="106189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鐵律一句話：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「緊張的時候你一定會吹快，所以我們用節拍器，不用感覺。」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 2/4 · 速率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小兒速率：一個必須誠實講的落差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流傳很廣的「嬰兒 25、兒童 20」其實不在現行第 3 版裡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669280"/>
                <a:gridCol w="209397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來源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速率寫法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核對狀態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BTF 院前指引 3rd ed（2023，現行）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需正壓通氣者維持「約 10 次/分，EtCO2 35–45」—— 全文未列任何年齡別速率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已核對原文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舊版／EPIC 現場教材流傳版本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嬰兒（0–24 月）25、兒童（2–14 歲）20、&gt;14 歲 10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廣泛引用，本次未取得原文確證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3246120"/>
            <a:ext cx="11057839" cy="1600200"/>
          </a:xfrm>
          <a:prstGeom prst="roundRect">
            <a:avLst>
              <a:gd name="adj" fmla="val 5143"/>
            </a:avLst>
          </a:prstGeom>
          <a:solidFill>
            <a:srgbClr val="2B2113"/>
          </a:solidFill>
          <a:ln w="12700">
            <a:solidFill>
              <a:srgbClr val="6B52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3392424"/>
            <a:ext cx="106555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怎麼教才不會錯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86384" y="3739896"/>
            <a:ext cx="10637215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EtCO2 當終點，速率當起點。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嬰兒照 10 次/分一定會 CO2 堆積 —— 生理上就該比成人快。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做法：</a:t>
            </a:r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從該年齡的正常呼吸速率下緣起步 → 看 EtCO2 → 調整到 35–45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如果你們的地方 SOP 寫了年齡別速率，</a:t>
            </a:r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SOP 為準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，但仍以 EtCO2 收斂。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5029200"/>
            <a:ext cx="11057839" cy="731520"/>
          </a:xfrm>
          <a:prstGeom prst="roundRect">
            <a:avLst>
              <a:gd name="adj" fmla="val 8750"/>
            </a:avLst>
          </a:prstGeom>
          <a:solidFill>
            <a:srgbClr val="1D2028"/>
          </a:solidFill>
          <a:ln w="12700">
            <a:solidFill>
              <a:srgbClr val="4A433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" y="5138928"/>
            <a:ext cx="106189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要寫進正式教材前：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請核對 BTF 3rd ed 全文或地方協定原文，不要沿用二手數字。這一頁本身就是教學員「查原文」的示範。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 3/4 · 姿勢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抬高床頭要加一個前置條件才能教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先血壓，後抬頭 —— 順序寫進流程卡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2476424" cy="868680"/>
          </a:xfrm>
          <a:prstGeom prst="roundRect">
            <a:avLst>
              <a:gd name="adj" fmla="val 8421"/>
            </a:avLst>
          </a:prstGeom>
          <a:solidFill>
            <a:srgbClr val="212A38"/>
          </a:solidFill>
          <a:ln w="12700">
            <a:solidFill>
              <a:srgbClr val="323C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645920"/>
            <a:ext cx="2293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血壓達標？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（依年齡別目標）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43352" y="1645920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27400" y="1645920"/>
            <a:ext cx="2476424" cy="868680"/>
          </a:xfrm>
          <a:prstGeom prst="roundRect">
            <a:avLst>
              <a:gd name="adj" fmla="val 8421"/>
            </a:avLst>
          </a:prstGeom>
          <a:solidFill>
            <a:srgbClr val="212A38"/>
          </a:solidFill>
          <a:ln w="12700">
            <a:solidFill>
              <a:srgbClr val="323C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8840" y="1645920"/>
            <a:ext cx="2293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整床／整板傾斜 30°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（reverse Trendelenburg）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03824" y="1645920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87872" y="1645920"/>
            <a:ext cx="2476424" cy="868680"/>
          </a:xfrm>
          <a:prstGeom prst="roundRect">
            <a:avLst>
              <a:gd name="adj" fmla="val 8421"/>
            </a:avLst>
          </a:prstGeom>
          <a:solidFill>
            <a:srgbClr val="212A38"/>
          </a:solidFill>
          <a:ln w="12700">
            <a:solidFill>
              <a:srgbClr val="323C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1645920"/>
            <a:ext cx="2293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2 分鐘內重測血壓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64295" y="1645920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48343" y="1645920"/>
            <a:ext cx="2476424" cy="868680"/>
          </a:xfrm>
          <a:prstGeom prst="roundRect">
            <a:avLst>
              <a:gd name="adj" fmla="val 8421"/>
            </a:avLst>
          </a:prstGeom>
          <a:solidFill>
            <a:srgbClr val="212A38"/>
          </a:solidFill>
          <a:ln w="12700">
            <a:solidFill>
              <a:srgbClr val="6E2A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9783" y="1645920"/>
            <a:ext cx="2293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血壓掉 → 放平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2697480"/>
            <a:ext cx="5368900" cy="1737360"/>
          </a:xfrm>
          <a:prstGeom prst="roundRect">
            <a:avLst>
              <a:gd name="adj" fmla="val 4737"/>
            </a:avLst>
          </a:prstGeom>
          <a:solidFill>
            <a:srgbClr val="12262A"/>
          </a:solidFill>
          <a:ln w="12700">
            <a:solidFill>
              <a:srgbClr val="2360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2843784"/>
            <a:ext cx="496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做對的細節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86384" y="3191256"/>
            <a:ext cx="494827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已上背板 → 整板傾斜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，不折頸、不在頭下塞枕頭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頭頸維持中立位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抬高不能延遲後送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55868" y="2697480"/>
            <a:ext cx="5368900" cy="1737360"/>
          </a:xfrm>
          <a:prstGeom prst="roundRect">
            <a:avLst>
              <a:gd name="adj" fmla="val 4737"/>
            </a:avLst>
          </a:prstGeom>
          <a:solidFill>
            <a:srgbClr val="2B2113"/>
          </a:solidFill>
          <a:ln w="12700">
            <a:solidFill>
              <a:srgbClr val="6B52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7036" y="2843784"/>
            <a:ext cx="496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嬰兒的大後枕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75324" y="3218688"/>
            <a:ext cx="49299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平躺於成人長背板會使頸椎屈曲 → 墊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軀幹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（不是墊頭）維持中立位。
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證據標註：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這是廣泛教學的院前原則，本次檢索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未找到指引分級證據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—— 屬 good practice。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617720"/>
            <a:ext cx="11057839" cy="685800"/>
          </a:xfrm>
          <a:prstGeom prst="roundRect">
            <a:avLst>
              <a:gd name="adj" fmla="val 9333"/>
            </a:avLst>
          </a:prstGeom>
          <a:solidFill>
            <a:srgbClr val="1D2028"/>
          </a:solidFill>
          <a:ln w="12700">
            <a:solidFill>
              <a:srgbClr val="4A43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4727448"/>
            <a:ext cx="10618927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一句話：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抬高床頭是「有空才做的加分題」，血壓和血氧是「不做就不及格」。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 4/4 · 真正救命的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不要讓學員把重點放錯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這三件事的證據都比床頭角度硬得多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472586" cy="1463040"/>
          </a:xfrm>
          <a:prstGeom prst="roundRect">
            <a:avLst>
              <a:gd name="adj" fmla="val 5625"/>
            </a:avLst>
          </a:prstGeom>
          <a:solidFill>
            <a:srgbClr val="12262A"/>
          </a:solidFill>
          <a:ln w="12700">
            <a:solidFill>
              <a:srgbClr val="2360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792224"/>
            <a:ext cx="30702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氧氣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" y="2029968"/>
            <a:ext cx="3070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SpO2 &gt; 90%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68096" y="2377440"/>
            <a:ext cx="307025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力求 ≥94%。每 5 分鐘量一次。SpO2 &lt; 90% 即為缺氧。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59554" y="1645920"/>
            <a:ext cx="3472586" cy="1463040"/>
          </a:xfrm>
          <a:prstGeom prst="roundRect">
            <a:avLst>
              <a:gd name="adj" fmla="val 5625"/>
            </a:avLst>
          </a:prstGeom>
          <a:solidFill>
            <a:srgbClr val="12262A"/>
          </a:solidFill>
          <a:ln w="12700">
            <a:solidFill>
              <a:srgbClr val="2360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0722" y="1792224"/>
            <a:ext cx="30702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血壓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60722" y="2029968"/>
            <a:ext cx="3070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分鐘內處理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560722" y="2377440"/>
            <a:ext cx="307025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依年齡別目標。PEGASUS：及時處理 → 死亡 aRR 0.46。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52181" y="1645920"/>
            <a:ext cx="3472586" cy="1463040"/>
          </a:xfrm>
          <a:prstGeom prst="roundRect">
            <a:avLst>
              <a:gd name="adj" fmla="val 5625"/>
            </a:avLst>
          </a:prstGeom>
          <a:solidFill>
            <a:srgbClr val="12262A"/>
          </a:solidFill>
          <a:ln w="12700">
            <a:solidFill>
              <a:srgbClr val="2360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3349" y="1792224"/>
            <a:ext cx="30702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後送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53349" y="2029968"/>
            <a:ext cx="3070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最高等級創傷中心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353349" y="2377440"/>
            <a:ext cx="307025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ACS：快速後送＋沿途避免低血壓、缺氧、高碳酸、低體溫。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291840"/>
            <a:ext cx="11057839" cy="1005840"/>
          </a:xfrm>
          <a:prstGeom prst="roundRect">
            <a:avLst>
              <a:gd name="adj" fmla="val 8182"/>
            </a:avLst>
          </a:prstGeom>
          <a:solidFill>
            <a:srgbClr val="2A1519"/>
          </a:solidFill>
          <a:ln w="12700">
            <a:solidFill>
              <a:srgbClr val="6E2A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3438144"/>
            <a:ext cx="106555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最致命的組合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86384" y="376732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缺氧與低血壓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併存</a:t>
            </a:r>
            <a:pPr indent="0" marL="0"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比任何單一項都差；未被處理的低血壓，死亡 OR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pPr indent="0" marL="0"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、殘障 OR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pPr indent="0" marL="0"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4480560"/>
            <a:ext cx="11057839" cy="822960"/>
          </a:xfrm>
          <a:prstGeom prst="roundRect">
            <a:avLst>
              <a:gd name="adj" fmla="val 8889"/>
            </a:avLst>
          </a:prstGeom>
          <a:solidFill>
            <a:srgbClr val="2B2113"/>
          </a:solidFill>
          <a:ln w="12700">
            <a:solidFill>
              <a:srgbClr val="6B52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4636008"/>
            <a:ext cx="566928" cy="274320"/>
          </a:xfrm>
          <a:prstGeom prst="roundRect">
            <a:avLst>
              <a:gd name="adj" fmla="val 46667"/>
            </a:avLst>
          </a:prstGeom>
          <a:solidFill>
            <a:srgbClr val="F0A836"/>
          </a:solidFill>
          <a:ln w="12700">
            <a:solidFill>
              <a:srgbClr val="F0A8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46360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比喻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408176" y="4599432"/>
            <a:ext cx="100154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床頭角度是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0A8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裝潢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，血壓與血氧是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0A8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地基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。沒有人會在地基還在下沉的時候討論牆要漆什麼顏色。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檢核／OSCE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五個情境，考的都是同一件事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學員最常錯的是 B 和 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5202936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情境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正確處置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　5 歲、車禍、GCS 7、已 BVM、SpO2 96%、SBP 88、EtCO2 顯示 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吹太快了 → 放慢，EtCO2 回到 35–45；同時處理 SBP 88（1–5 歲目標 &gt;90）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　同上，但 EtCO2 顯示 33，學員說「再吹快一點比較安全」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錯。35 以下就是在傷害腦部，沒有「保險起見吹低一點」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　8 個月嬰兒、墜落、GCS 6、右瞳散大固定、姿勢異常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符合腦疝 → 吹快，目標 EtCO2 30–35，並持續評估、盡速後送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　3 歲、GCS 8、SBP 68、學員先把擔架床頭抬到 30°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順序錯。先處理低血壓（1–5 歲目標 &gt;90），血壓沒到不要抬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　溺水後的 6 歲、已插管、EtCO2 38 但看起來很喘、SpO2 89%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肺有問題 → EtCO2 低估 PaCO2；不要因數字漂亮而放心，先解決氧合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4892040"/>
            <a:ext cx="11057839" cy="685800"/>
          </a:xfrm>
          <a:prstGeom prst="roundRect">
            <a:avLst>
              <a:gd name="adj" fmla="val 9333"/>
            </a:avLst>
          </a:prstGeom>
          <a:solidFill>
            <a:srgbClr val="1D2028"/>
          </a:solidFill>
          <a:ln w="12700">
            <a:solidFill>
              <a:srgbClr val="4A433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5001768"/>
            <a:ext cx="10618927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共同答案：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五題考的都是「</a:t>
            </a:r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別吹快、血壓優先、EtCO2 是儀表不是目標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」。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誠實揭露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要對學員說的三句話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教材的可信度來自敢講不確定的地方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11057839" cy="1874520"/>
          </a:xfrm>
          <a:prstGeom prst="roundRect">
            <a:avLst>
              <a:gd name="adj" fmla="val 4390"/>
            </a:avLst>
          </a:prstGeom>
          <a:solidFill>
            <a:srgbClr val="171D27"/>
          </a:solidFill>
          <a:ln w="12700">
            <a:solidFill>
              <a:srgbClr val="323C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792224"/>
            <a:ext cx="106372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「『不要吹快』</a:t>
            </a:r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有病人預後證據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但小兒的正式建議只有 </a:t>
            </a:r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III（weak）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，而 EPIC4Kids 只在重度次群組顯著，信賴區間極寬。」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「『連續 EtCO2』被</a:t>
            </a:r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強力推薦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但指引自己說它防不了吹過頭，小兒指引甚至</a:t>
            </a:r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不表態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它能否取代 PaCO2。」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「『抬高床頭 30°』確實降腦壓 5.6 mmHg —— 但 </a:t>
            </a:r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CPP、腦氧、死亡率、功能預後全都沒有獲益證據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，Cochrane 評 very low quality，小兒指引</a:t>
            </a:r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沒有任何建議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。」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70332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2A1519"/>
          </a:solidFill>
          <a:ln w="12700">
            <a:solidFill>
              <a:srgbClr val="6E2A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49624"/>
            <a:ext cx="106555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三個真正的證據缺口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86384" y="4197096"/>
            <a:ext cx="106372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小兒院前 </a:t>
            </a:r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EtCO2 導引通氣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沒有 RCT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 </a:t>
            </a:r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姿勢／床頭角度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完全沒有分級證據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BTF 3rd ed </a:t>
            </a:r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未提供年齡別通氣速率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現場最需要的那個數字反而消失了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5257800"/>
            <a:ext cx="11057839" cy="658368"/>
          </a:xfrm>
          <a:prstGeom prst="roundRect">
            <a:avLst>
              <a:gd name="adj" fmla="val 9722"/>
            </a:avLst>
          </a:prstGeom>
          <a:solidFill>
            <a:srgbClr val="1D2028"/>
          </a:solidFill>
          <a:ln w="12700">
            <a:solidFill>
              <a:srgbClr val="4A43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5367528"/>
            <a:ext cx="106189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可以往上提的建議：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地方 SOP 若要納入小兒 TBI 通氣，應明訂「以 EtCO2 35–45 為終點」而非只寫固定速率。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附錄 · 名詞對照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名詞與英文對照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方便學員之後自己查文獻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53460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916936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臨床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顱內壓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ICP, intracranial pressure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腦灌流壓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CPP, cerebral perfusion pressure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腦血流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CBF, cerebral blood flow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低碳酸／高碳酸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hypocapnia / hypercapnia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正常碳酸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eucapnia, normocapnia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腦疝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herniation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腦血流自動調節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autoregulation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死腔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dead space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小兒急性呼吸窘迫症候群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脊椎活動限制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SMR, spinal motion restriction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1645920"/>
          <a:ext cx="53460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916936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方法學／統計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校正後勝算比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aOR, adjusted odds ratio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校正後相對風險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aRR, adjusted relative risk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信賴區間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 CI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系統性回顧／統合分析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systematic review / meta-analysis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平均差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MD, mean difference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一致性界限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limits of agreement（Bland-Altman）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前後對照實施研究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before-after implementation study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預先計畫次分析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preplanned secondary analysis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格拉斯哥預後量表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GOS, Glasgow Outcome Scale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分級證據等級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 I / II / III；Strong / Weak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附錄 · 數字查核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關鍵數字從哪裡來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官方指引／同儕審查原文　○ 單一來源、未核對原文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5669280"/>
                <a:gridCol w="1179576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數字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查核來源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等級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A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ICP −5.58 mmHg；CPP p=0.13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Neurocrit Care 2024 meta 摘要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Cochrane very low quality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Cochrane Review 2017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EtCO2 35–45／腦疝 30–35（Strong）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BTF 3rd ed Executive Summary 原文核對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年齡別 SBP 目標 70／84／90／100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BTF 3rd ed Table 1 原文核對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「約 10 次/分、無年齡別速率」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BTF 3rd ed 原文核對（確認缺漏）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成人 EPIC aOR 3.52 / 0.72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JAMA Surg 2019 Figure 3 原圖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PEGASUS 26%／23.3% vs 8.6%／aRR 0.46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Kannan 2018 摘要（PubMed 核對）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嬰兒 25／兒童 20 次/分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二手引用，未取得原文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嬰兒墊軀幹（大後枕）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教學共識，無分級證據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493776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證據來源以 OpenEvidence 檢索（5 次查詢）起始，關鍵數字再回原文／PubMed 核對。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參考文獻 1/2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每一條都可點開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1057839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u="sng" dirty="0">
                <a:solidFill>
                  <a:srgbClr val="6FB6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Prehospital Guidelines for the Management of Traumatic Brain Injury – 3rd Edition. Prehosp Emerg Care. 2023.</a:t>
            </a:r>
            <a:endParaRPr lang="en-US" sz="1200" dirty="0"/>
          </a:p>
          <a:p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u="sng" dirty="0">
                <a:solidFill>
                  <a:srgbClr val="6FB6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Guidelines for Prehospital Management of TBI 3rd Edition: Executive Summary. Neurosurgery. 2023.</a:t>
            </a:r>
            <a:endParaRPr lang="en-US" sz="1200" dirty="0"/>
          </a:p>
          <a:p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u="sng" dirty="0">
                <a:solidFill>
                  <a:srgbClr val="6FB6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Kochanek PM, et al. Guidelines for the Management of Pediatric Severe TBI, 3rd Edition. Pediatr Crit Care Med. 2019;20(3S):S1-S82.</a:t>
            </a:r>
            <a:endParaRPr lang="en-US" sz="1200" dirty="0"/>
          </a:p>
          <a:p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u="sng" dirty="0">
                <a:solidFill>
                  <a:srgbClr val="6FB6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Spaite DW, et al. Statewide Implementation of Prehospital TBI Treatment Guidelines and Survival (EPIC). JAMA Surg. 2019;154(7):e191152.</a:t>
            </a:r>
            <a:endParaRPr lang="en-US" sz="1200" dirty="0"/>
          </a:p>
          <a:p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u="sng" dirty="0">
                <a:solidFill>
                  <a:srgbClr val="6FB6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EPIC4Kids: Effect of Implementing the Out-of-Hospital TBI Treatment Guidelines in Children. Ann Emerg Med.</a:t>
            </a:r>
            <a:endParaRPr lang="en-US" sz="1200" dirty="0"/>
          </a:p>
          <a:p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</a:t>
            </a:r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u="sng" dirty="0">
                <a:solidFill>
                  <a:srgbClr val="6FB6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Effects of Head Elevation on ICP, CPP and Cerebral Oxygenation: Systematic Review and Meta-analysis. Neurocrit Care. 2024.</a:t>
            </a:r>
            <a:endParaRPr lang="en-US" sz="1200" dirty="0"/>
          </a:p>
          <a:p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</a:t>
            </a:r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u="sng" dirty="0">
                <a:solidFill>
                  <a:srgbClr val="6FB6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Elevation of the Head During Intensive Care Management in People With Severe TBI. Cochrane Database Syst Rev. 2017.</a:t>
            </a:r>
            <a:endParaRPr lang="en-US" sz="1200" dirty="0"/>
          </a:p>
          <a:p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</a:t>
            </a:r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u="sng" dirty="0">
                <a:solidFill>
                  <a:srgbClr val="6FB6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Yang JT, et al. Agreement Between PaCO2 and EtCO2 in Children. JAMA Netw Open. 2019;2(8):e199448.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參考文獻 2/2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References（續）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每一條都可點開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小兒疑似 TBI：抬高床頭 · 避免過度換氣 · EtCO2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1057839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</a:t>
            </a:r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u="sng" dirty="0">
                <a:solidFill>
                  <a:srgbClr val="6FB6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End-Tidal to Arterial CO2 Gradient Is Associated With Increased Mortality in TBI. Sci Rep. 2021.</a:t>
            </a:r>
            <a:endParaRPr lang="en-US" sz="1200" dirty="0"/>
          </a:p>
          <a:p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</a:t>
            </a:r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u="sng" dirty="0">
                <a:solidFill>
                  <a:srgbClr val="6FB6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Adverse Prehospital Events and Outcomes After TBI (LITES Network). JAMA Netw Open. 2024.</a:t>
            </a:r>
            <a:endParaRPr lang="en-US" sz="1200" dirty="0"/>
          </a:p>
          <a:p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</a:t>
            </a:r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u="sng" dirty="0">
                <a:solidFill>
                  <a:srgbClr val="6FB6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Impact of Oxygen and Carbon Dioxide Levels on Mortality in Moderate-to-Severe TBI: SR and Meta-analysis. Crit Care. 2025.</a:t>
            </a:r>
            <a:endParaRPr lang="en-US" sz="1200" dirty="0"/>
          </a:p>
          <a:p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</a:t>
            </a:r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u="sng" dirty="0">
                <a:solidFill>
                  <a:srgbClr val="6FB6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Optimal Targets of First 24-h PaCO2 in Cerebral Injury (MIMIC-III/IV). Neurocrit Care. 2021.</a:t>
            </a:r>
            <a:endParaRPr lang="en-US" sz="1200" dirty="0"/>
          </a:p>
          <a:p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</a:t>
            </a:r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u="sng" dirty="0">
                <a:solidFill>
                  <a:srgbClr val="6FB6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Kannan N, et al. Timely Hemodynamic Resuscitation and Outcomes in Severe Pediatric TBI (PEGASUS). Pediatr Emerg Care. 2018;34(5):325-329.</a:t>
            </a:r>
            <a:endParaRPr lang="en-US" sz="1200" dirty="0"/>
          </a:p>
          <a:p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</a:t>
            </a:r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u="sng" dirty="0">
                <a:solidFill>
                  <a:srgbClr val="6FB6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Prehospital Care for TBI: Review of U.S. State EMS Protocols. Am J Emerg Med. 2024.</a:t>
            </a:r>
            <a:endParaRPr lang="en-US" sz="1200" dirty="0"/>
          </a:p>
          <a:p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</a:t>
            </a:r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u="sng" dirty="0">
                <a:solidFill>
                  <a:srgbClr val="6FB6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EMS Protocols for TBI in the United States: A Call for Standardization. Injury. 2021.</a:t>
            </a:r>
            <a:endParaRPr lang="en-US" sz="1200" dirty="0"/>
          </a:p>
          <a:p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 </a:t>
            </a:r>
            <a:pPr indent="0" marL="0">
              <a:lnSpc>
                <a:spcPct val="134000"/>
              </a:lnSpc>
              <a:spcAft>
                <a:spcPts val="300"/>
              </a:spcAft>
              <a:buNone/>
            </a:pPr>
            <a:r>
              <a:rPr lang="en-US" sz="1200" u="sng" dirty="0">
                <a:solidFill>
                  <a:srgbClr val="6FB6E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ACS. Best Practices in the Management of Traumatic Brain Injury.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5212080"/>
            <a:ext cx="11057839" cy="777240"/>
          </a:xfrm>
          <a:prstGeom prst="roundRect">
            <a:avLst>
              <a:gd name="adj" fmla="val 8235"/>
            </a:avLst>
          </a:prstGeom>
          <a:solidFill>
            <a:srgbClr val="1D2028"/>
          </a:solidFill>
          <a:ln w="12700">
            <a:solidFill>
              <a:srgbClr val="4A43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5321808"/>
            <a:ext cx="1061892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圖片使用聲明：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本簡報引用之期刊原圖（JAMA Surgery Figure 3、JAMA Network Open Figure 1）版權屬 American Medical Association，僅為院內教學討論之引用，已於各圖下方標註完整出處與權利人。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小兒疑似頭部外傷：抬高床頭、避免過度換氣、EtCO2 監測</dc:title>
  <dc:subject>PptxGenJS Presentation</dc:subject>
  <dc:creator>林自強</dc:creator>
  <cp:lastModifiedBy>林自強</cp:lastModifiedBy>
  <cp:revision>1</cp:revision>
  <dcterms:created xsi:type="dcterms:W3CDTF">2026-08-18T10:29:00Z</dcterms:created>
  <dcterms:modified xsi:type="dcterms:W3CDTF">2026-08-18T10:29:00Z</dcterms:modified>
</cp:coreProperties>
</file>